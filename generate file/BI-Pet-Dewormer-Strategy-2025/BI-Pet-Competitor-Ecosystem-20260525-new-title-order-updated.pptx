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8" r:id="rId11"/>
    <p:sldId id="269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279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最新情报：2026年5月竞品池确认 · 国产替代深化 · 渠道与数字化机会 · BI行动建议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中国宠物驱虫竞争格局 2026 Q1 | China Pet Dewormer Competitive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65960"/>
            <a:ext cx="27432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国际+17% / +10% organic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▼美国伴侣动物-11%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80467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804672"/>
            <a:ext cx="2743200" cy="45720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804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13.71亿美元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1965960"/>
            <a:ext cx="27432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Zenrelia/Credelio Quattro放量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净负债约33亿美元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804672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804672"/>
            <a:ext cx="274320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8046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1965960"/>
            <a:ext cx="27432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宠物线相对平淡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8346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8346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8346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消费分层与价格敏感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宠主比价、复购和大促行为增强，高端外资品牌需要用专业价值抵御价格战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46120" y="28346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46120" y="28346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28346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0332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创新与便利性共同驱动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0332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长效、省心、内外同驱、猫友好剂型成为差异化表达核心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72200" y="28346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72200" y="28346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28346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2940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中国市场进入运营战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29400" y="3182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医院专业背书、电商搜索卡位、私域复购提醒需要形成闭环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数据来源：Zoetis / Elanco / Merck Q1 2026官方财报；公开资料与市场观察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Zoetis 驱虫药 | Zoetis Parasiticide Portfolio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96.8-99.6亿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美元 2026收入指引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美元 Q1营收 / +3% YoY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美国伴侣动物同比下滑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国际市场增长关键引擎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8288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828800"/>
            <a:ext cx="54864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Revolution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2130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 | 外用滴剂 | 内外驱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赛拉菌素；体内外寄生虫及心丝虫预防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54864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Revolution Plus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" y="3090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| 外用滴剂 | 内外驱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赛拉菌素+沙罗拉纳；跳蚤、蜱虫、耳螨等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驱虫药市场挑战 | Dewormer Market Challenges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利润预警：宠主削减开支、减少就诊，高端宠物护理承压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中国驱虫药市场国产品牌性价比优势持续蚕食外资份额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大宠爱/妙宠爱在中国核心是犬猫滴剂心智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猫端仍以滴剂便利性、安全感和兽医推荐为关键竞争点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041648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0416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洞察：硕腾在中国驱虫核心资产是大宠爱/妙宠爱的犬猫滴剂心智。BI犬端应突出超可信口服内外同驱与高阶预防；猫端重点对标滴剂便利性与猫主接受度。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数据来源：Zoetis Q1 2026官方财报、Zoetis中国大宠爱/妙宠爱公开资料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097946"/>
              </p:ext>
            </p:extLst>
          </p:nvPr>
        </p:nvGraphicFramePr>
        <p:xfrm>
          <a:off x="274320" y="804672"/>
          <a:ext cx="5623560" cy="33284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 </a:t>
                      </a: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 </a:t>
                      </a: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Heartgard Plus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拜宠清（拜耳）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竞争不再只是产品谱系，而是专业信任、价格带与复购能力的竞争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  [全球龙头]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妙宠爱构成强猫狗驱虫心智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兽医教育与慢病布局长期强势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Q1 2026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国际业务增长、美国宠物线承压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需持续关注其医生教育和会员化能力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804672"/>
            <a:ext cx="2743200" cy="41148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804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  [创新驱动]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可立奥、索来多项圈、拜宠清覆盖不同剂型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Zenrelia/Credelio Quattro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为美国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海外新品动态，中国在售需另行区分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美国覆盖诊所份额数据不可直接外推中国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新兴市场压力与新品放量并存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80467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804672"/>
            <a:ext cx="2743200" cy="4114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804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 [稳健多元]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12801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贝卫多以长效省心定位形成清晰差异化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医院渠道深耕，多元化组合稳健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Q1 2026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动物保健业务增长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宠物驱虫在中国仍以长效心智和专业推荐为核心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679192"/>
            <a:ext cx="27432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79192"/>
            <a:ext cx="2743200" cy="41148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791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  [⭐重点]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海乐妙、海乐旺等形成国产矩阵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公开销量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市占需以审计或电商数据确认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电商与下沉渠道价格压力明显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出海、处方粮与“药粮联动”为长期观察项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2679192"/>
            <a:ext cx="571500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679192"/>
            <a:ext cx="5715000" cy="4114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67919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瑞普/普莱柯  [国产替代]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315468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恩倍多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倍宠恩等以性价比切入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电商速度和下沉渠道形成持续压力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价格竞争激烈 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主要短板仍是高端品牌信任、兽医背书和长期复购管理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4498848"/>
            <a:ext cx="8503920" cy="530352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49884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竞争焦点从单品疗效转向专业信任、渠道效率、价盘管理和复购管理。外资守医院与品牌信任，国产品牌抢价格带和下沉渠道。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数据来源：各公司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公开财报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新闻稿、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中国宠物行业白皮书、用户确认竞品池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犬猫分化下，猫端做教育突破，犬端做高阶预防规模化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47548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★★★★★  猫用内外同驱滴剂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3886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猫数量高于犬，且猫端仍有驱虫认知缺口 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2025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年城镇猫约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7289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万只、犬约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5343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万只；猫消费市场增速高于犬 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室内猫仍有跳蚤、螨虫及肠道寄生虫风险，便利滴剂更适合“喂药难”场景 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BI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行动：博来恩围绕室内猫、多猫家庭、幼猫首次驱虫做教育与多支装复购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04672"/>
            <a:ext cx="4160520" cy="47548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804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★★★★☆  犬用超可信咀嚼片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353312"/>
            <a:ext cx="38862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犬端单宠年消费更高，医院端专业信任更强 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超可信具备犬用口服内外同驱优势，适合建立高阶预防心智 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户外场景（蜱虫、心丝虫等）需求明确 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BI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行动：医院推荐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电商搜索词防守，强化年度预防方案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200400"/>
            <a:ext cx="54864" cy="96012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★★★★☆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猫用单方滴剂（室内猫）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入门教育与体验装承接，适合室内猫、幼猫首购和价格敏感人群 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多宠家庭：「多支装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周期装」提升复购确定性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3200400"/>
            <a:ext cx="41605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200400"/>
            <a:ext cx="54864" cy="96012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0" name="Text 18"/>
          <p:cNvSpPr/>
          <p:nvPr/>
        </p:nvSpPr>
        <p:spPr>
          <a:xfrm>
            <a:off x="4873752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★★★☆☆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3752" y="3520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犬用口服/咀嚼片（单方）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3752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稳定支撑，更多承担防守和补充角色 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以场景教育和渠道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管理维持价盘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核心结论：猫用滴剂是认知突破口，犬用超可信是规模与专业支撑；内外同驱应作为未来教育主线，而非仅靠价格竞争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中国宠物行业白皮书、各公司公开信息、公开电商观察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view: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医院建立信任，电商承接转化，宠物店与</a:t>
            </a:r>
            <a:r>
              <a:rPr lang="en-US" altLang="zh-CN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O2O</a:t>
            </a:r>
            <a:r>
              <a:rPr lang="zh-CN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负责复购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47548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04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607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重要渠道 </a:t>
            </a:r>
            <a:r>
              <a:rPr lang="en-US" altLang="zh-CN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</a:t>
            </a:r>
            <a:r>
              <a:rPr lang="en-US" altLang="zh-CN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复购入口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搜索比价</a:t>
            </a:r>
            <a:r>
              <a:rPr lang="en-US" altLang="zh-CN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内容转化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783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内容种草（小红书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抖音）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搜索卡位（关键词投放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内容优化）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会员复购体系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多宠家庭精准推送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804672"/>
            <a:ext cx="2057400" cy="47548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804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10607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专业入口 </a:t>
            </a:r>
            <a:r>
              <a:rPr lang="en-US" altLang="zh-CN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首购教育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1353312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24328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教育主阵地</a:t>
            </a:r>
            <a:r>
              <a:rPr lang="en-US" altLang="zh-CN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医生背书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24328" y="1783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兽医产品培训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幼宠首购合作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数字化驱虫档案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804672"/>
            <a:ext cx="2057400" cy="47548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804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0607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补充渠道 </a:t>
            </a:r>
            <a:r>
              <a:rPr lang="en-US" altLang="zh-CN" sz="9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社区触点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353312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即时购买</a:t>
            </a:r>
            <a:r>
              <a:rPr lang="en-US" altLang="zh-CN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社区覆盖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8888" y="1783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店员教育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社区覆盖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即时购买场景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O2O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03720" y="804672"/>
            <a:ext cx="2057400" cy="47548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8046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O2O平台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10607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增长场景 </a:t>
            </a:r>
            <a:r>
              <a:rPr lang="en-US" altLang="zh-CN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即时履约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1353312"/>
            <a:ext cx="20574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13448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即时需求</a:t>
            </a:r>
            <a:r>
              <a:rPr lang="en-US" altLang="zh-CN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本地复购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3448" y="178308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饿了么等接入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急用补购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本地库存可视化 </a:t>
            </a:r>
            <a:r>
              <a:rPr lang="en-US" altLang="zh-CN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下沉市场补充触达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4005072"/>
            <a:ext cx="8503920" cy="74980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4005072"/>
            <a:ext cx="73152" cy="74980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41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渠道策略核心框架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4297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教育渠道（兽医）：建立信任和专业背书 → 首购转化  </a:t>
            </a:r>
            <a:r>
              <a:rPr lang="en-US" altLang="zh-CN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zh-CN" alt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转化渠道（电商）：内容种草 </a:t>
            </a:r>
            <a:r>
              <a:rPr lang="en-US" altLang="zh-CN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搜索卡位 → 合规销售  </a:t>
            </a:r>
            <a:r>
              <a:rPr lang="en-US" altLang="zh-CN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zh-CN" alt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复购渠道（电商</a:t>
            </a:r>
            <a:r>
              <a:rPr lang="en-US" altLang="zh-CN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+O2O+</a:t>
            </a:r>
            <a:r>
              <a:rPr lang="zh-CN" alt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私域）：会员积分 </a:t>
            </a:r>
            <a:r>
              <a:rPr lang="en-US" altLang="zh-CN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数字提醒 </a:t>
            </a:r>
            <a:r>
              <a:rPr lang="en-US" altLang="zh-CN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8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即时履约 → 用户留存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注：公开资料可支持渠道角色判断，具体份额需以电商审计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医院进销存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内部销售数据校准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Strategy view: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应避免价格战，用产品组合和服务权益守住高端价盘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6052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046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产品组合策略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35024"/>
            <a:ext cx="54864" cy="6400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优先推动「内外同驱」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63677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一次解决多重寄生虫防护诉求，降低选择复杂度；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博来恩可承担高阶预防教育主线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54864" cy="6400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1214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猫用滴剂为突破口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38658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博来恩猫用滴剂围绕室内猫、多猫家庭、幼猫首驱与周期装复购设计话术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4864" cy="6400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8712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兽医端学术教育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1363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赞助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产品培训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临床资料支持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数字化建档工具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54864" cy="6400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6210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消费者复购闭环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38862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小程序驱虫日历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电商会员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季度复购提醒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多宠家庭周期装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41605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804672"/>
            <a:ext cx="4160520" cy="438912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8046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定价带布局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335024"/>
            <a:ext cx="3886200" cy="6400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335024"/>
            <a:ext cx="73152" cy="6400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426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 &gt;300元/3支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维持溢价，以服务、赠品和会员权益替代直接降价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084832"/>
            <a:ext cx="3886200" cy="6400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084832"/>
            <a:ext cx="73152" cy="64008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176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中高端 200-300元/3支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432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限时权益、组合装和医院会员价，避免公开价盘失控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834640"/>
            <a:ext cx="3886200" cy="6400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0" y="2834640"/>
            <a:ext cx="73152" cy="64008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中端 100-200元/3支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182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首购体验装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小规格入门，承接价格敏感但不牺牲主品牌价值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584448"/>
            <a:ext cx="3886200" cy="6400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3584448"/>
            <a:ext cx="73152" cy="64008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675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经济型 &lt;100元/3支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931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作为价格监测对象，不建议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正面价格战；以渠道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和防窜货管理隔离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数据来源：公开电商观察、公司公开资料、内部策略假设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view: May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最大风险不是单一竞品，而是价格失控、渠道窜货和专业话语权被稀释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560320" cy="4572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046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 Risk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880360" y="804672"/>
            <a:ext cx="777240" cy="4572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8" name="Text 6"/>
          <p:cNvSpPr/>
          <p:nvPr/>
        </p:nvSpPr>
        <p:spPr>
          <a:xfrm>
            <a:off x="2953512" y="804672"/>
            <a:ext cx="630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685800" cy="4572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804672"/>
            <a:ext cx="53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804672"/>
            <a:ext cx="4617720" cy="4572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2" name="Text 10"/>
          <p:cNvSpPr/>
          <p:nvPr/>
        </p:nvSpPr>
        <p:spPr>
          <a:xfrm>
            <a:off x="4416552" y="804672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应对策略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335024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33502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本土品牌低价抢占下沉市场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80360" y="1335024"/>
            <a:ext cx="777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133502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0" y="1335024"/>
            <a:ext cx="685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33502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43400" y="1335024"/>
            <a:ext cx="4617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33502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不正面参与价格战，聚焦品质、专业教育和小规格体验；下沉渠道用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隔离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901952"/>
            <a:ext cx="256032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9019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消费者价格敏感度上升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80360" y="1901952"/>
            <a:ext cx="77724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1901952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0" y="1901952"/>
            <a:ext cx="68580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190195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43400" y="1901952"/>
            <a:ext cx="461772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34840" y="190195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用会员权益、周期装和首购体验降低门槛，避免破坏高端品牌价盘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46888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4688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兽医渠道话语权下降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80360" y="2468880"/>
            <a:ext cx="777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2468880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0" y="2468880"/>
            <a:ext cx="685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49040" y="24688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43400" y="2468880"/>
            <a:ext cx="4617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246888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强化兽医专业教育价值，同时用私域和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科普承接院外触达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035808"/>
            <a:ext cx="256032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03580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电商平台流量成本持续上涨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880360" y="3035808"/>
            <a:ext cx="77724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035808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0" y="3035808"/>
            <a:ext cx="68580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303580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343400" y="3035808"/>
            <a:ext cx="461772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34840" y="303580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发展微信小程序、会员体系和</a:t>
            </a:r>
            <a:r>
              <a:rPr lang="en-US" altLang="zh-CN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GPT</a:t>
            </a: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内容入口，降低对付费流量依赖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602736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6027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850" b="1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850" b="1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问答和内容合规边界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880360" y="3602736"/>
            <a:ext cx="7772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3602736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3602736"/>
            <a:ext cx="685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49040" y="360273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43400" y="3602736"/>
            <a:ext cx="4617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34840" y="360273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建立合规话术库、医学审核流程和导流兽医机制，避免诊疗承诺风险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0040" y="4169664"/>
            <a:ext cx="256032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16966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b="1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经销商窜货</a:t>
            </a:r>
            <a:r>
              <a:rPr lang="en-US" altLang="zh-CN" sz="850" b="1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50" b="1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电商乱价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880360" y="4169664"/>
            <a:ext cx="77724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71800" y="4169664"/>
            <a:ext cx="594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657600" y="4169664"/>
            <a:ext cx="68580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41696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43400" y="4169664"/>
            <a:ext cx="4617720" cy="53035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34840" y="416966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建立一物一码追踪、渠道分级授权、异常价监测和返利挂钩机制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数据来源：公开市场观察、公司公开资料、内部渠道管理经验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view: May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数字化机会：把一次性驱虫购买变成年周期预防管理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从一次购买走向年度预防管理 · 从品牌触达到医院复购闭环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743200" cy="56692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寄生虫风险地图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Map + Reminder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按城市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季节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生活方式分层风险，生成个性化驱虫周期提醒；南方蜱虫季、户外犬、多猫家庭重点教育，提醒后承接医院咨询或电商复购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2743200" cy="56692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兽医KOC内容矩阵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KOC Content Engine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医生短视频模板与合规话术库，小红书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视频号场景化科普；围绕竞品对比词、症状词和场景词做搜索防守，从内容引导到医院问诊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23444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34440"/>
            <a:ext cx="2743200" cy="56692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280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zh-CN" altLang="en-US" sz="9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医院会员工具 </a:t>
            </a:r>
            <a:r>
              <a:rPr lang="en-US" altLang="zh-CN" sz="9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9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CRM + AI Q&amp;A + Traceability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扫码建档：体重、用药、下次提醒；企业微信自动复购与随访；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问答设置医疗边界并导流兽医；结合一物一码沉淀合规一方数据与渠道流向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4005072"/>
            <a:ext cx="8503920" cy="5669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4005072"/>
            <a:ext cx="73152" cy="5669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050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核心价值：建立「风险识别</a:t>
            </a:r>
            <a:r>
              <a:rPr lang="en-US" altLang="zh-CN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专业教育</a:t>
            </a:r>
            <a:r>
              <a:rPr lang="en-US" altLang="zh-CN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医院咨询</a:t>
            </a:r>
            <a:r>
              <a:rPr lang="en-US" altLang="zh-CN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</a:t>
            </a:r>
            <a:r>
              <a:rPr lang="en-US" altLang="zh-CN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私域复购</a:t>
            </a:r>
            <a:r>
              <a:rPr lang="en-US" altLang="zh-CN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渠道追踪」闭环，让</a:t>
            </a:r>
            <a:r>
              <a:rPr lang="en-US" altLang="zh-CN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9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从驱虫药品牌升级为宠物预防医学管理入口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勃林格殷格翰中国宠物团队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下一步：守专业、控价盘、建复购、抓一方数据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硕腾：大宠爱</a:t>
            </a:r>
            <a:r>
              <a:rPr lang="en-US" altLang="zh-CN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妙宠爱构成强猫狗驱虫心智，医生教育和慢病布局长期强势 </a:t>
            </a:r>
            <a:r>
              <a:rPr lang="en-US" altLang="zh-CN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礼蓝：可立奥、索来多项圈、拜宠清覆盖不同剂型；海外新品需与中国在售区分 </a:t>
            </a:r>
            <a:r>
              <a:rPr lang="en-US" altLang="zh-CN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默沙东：贝卫多以长效省心定位形成差异化 </a:t>
            </a:r>
            <a:r>
              <a:rPr lang="en-US" altLang="zh-CN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</a:t>
            </a:r>
            <a:r>
              <a:rPr lang="en-US" altLang="zh-CN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</a:t>
            </a:r>
            <a:r>
              <a:rPr lang="en-US" altLang="zh-CN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普莱柯：以国产矩阵、性价比和下沉渠道形成压力 </a:t>
            </a:r>
            <a:r>
              <a:rPr lang="en-US" altLang="zh-CN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90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竞争焦点从单品疗效转向专业信任、渠道效率、价盘管理和复购管理</a:t>
            </a:r>
            <a:endParaRPr lang="en-US" sz="9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建立年度驱虫管理心智</a:t>
            </a:r>
            <a:endParaRPr lang="en-US" sz="9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把超可信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博来恩等从单次购买升级为全生命周期预防方案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-120"/>
              </a:rPr>
              <a:t>搭建数字化复购与渠道闭环</a:t>
            </a:r>
            <a:endParaRPr lang="en-US" sz="900" b="1" dirty="0">
              <a:solidFill>
                <a:schemeClr val="bg2">
                  <a:lumMod val="1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风险地图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+AI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医院会员工具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一物一码追踪，沉淀合规一方数据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-120"/>
              </a:rPr>
              <a:t>强化犬猫产品组合分工</a:t>
            </a:r>
            <a:endParaRPr lang="en-US" sz="900" b="1" dirty="0">
              <a:solidFill>
                <a:schemeClr val="bg2">
                  <a:lumMod val="1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犬端突出高阶内外同驱和户外风险；猫端强调便利性、安全感和专业推荐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-120"/>
              </a:rPr>
              <a:t>电商搜索与内容防守</a:t>
            </a:r>
            <a:endParaRPr lang="en-US" sz="900" b="1" dirty="0">
              <a:solidFill>
                <a:schemeClr val="bg2">
                  <a:lumMod val="1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围绕竞品对比词、场景词、症状词建设合规内容和转化链路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关注国产替代与价盘管理</a:t>
            </a:r>
            <a:endParaRPr lang="en-US" sz="9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持续监测海正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普莱柯价格、渠道、上新与医院端渗透，并联动防窜货机制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</a:t>
            </a:r>
            <a:r>
              <a:rPr 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</a:t>
            </a:r>
            <a:r>
              <a:rPr lang="zh-CN" altLang="en-US" sz="900" b="1">
                <a:solidFill>
                  <a:schemeClr val="bg2">
                    <a:lumMod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共创</a:t>
            </a:r>
            <a:endParaRPr lang="en-US" sz="9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把兽医教育升级为短视频内容、私域触达和到店咨询线索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  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非官方披露数据仅供内部策略讨论  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2372</Words>
  <Application>Microsoft Office PowerPoint</Application>
  <PresentationFormat>全屏显示(16:9)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BI宠物竞争者生态 2026</dc:title>
  <dc:subject>PptxGenJS Presentation</dc:subject>
  <dc:creator>BI China Pet Health</dc:creator>
  <cp:lastModifiedBy>LILY XU</cp:lastModifiedBy>
  <cp:revision>8</cp:revision>
  <dcterms:created xsi:type="dcterms:W3CDTF">2026-05-25T10:41:09Z</dcterms:created>
  <dcterms:modified xsi:type="dcterms:W3CDTF">2026-05-25T12:00:16Z</dcterms:modified>
</cp:coreProperties>
</file>