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73152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BI GLP-1 / MASH 中国竞争者生态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7C85"/>
                </a:solidFill>
              </a:rPr>
              <a:t>Boehringer Ingelheim GLP-1 / MASH China Competitive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市场趋势 · 竞品动态 · BI对策 · 行业洞察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3200400" cy="411480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451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最新情报：2026年6月竞品池确认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4572000"/>
            <a:ext cx="2286000" cy="411480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4645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· GLP-1 红海竞争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4572000"/>
            <a:ext cx="2286000" cy="411480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645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· MASH 战场开启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4572000"/>
            <a:ext cx="2286000" cy="411480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645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· BI 战略窗口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8090"/>
                </a:solidFill>
              </a:rPr>
              <a:t>数据截至：2026年5月25日  |  非官方披露数据仅供内部使用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08090"/>
                </a:solidFill>
              </a:rPr>
              <a:t>Boehringer Ingelheim China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市场概览 | Market Overview - GLP-1 / MASH 核心数据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C85"/>
                </a:solidFill>
              </a:rPr>
              <a:t>GLP-1 市场规模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5"/>
                </a:solidFill>
              </a:rPr>
              <a:t>中国 GLP-1 药物市场 2025 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C85"/>
                </a:solidFill>
              </a:rPr>
              <a:t>减重适应症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5"/>
                </a:solidFill>
              </a:rPr>
              <a:t>司美格鲁肽 · 替尔泊肽 · 玛仕度肽 2025 中国获批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C85"/>
                </a:solidFill>
              </a:rPr>
              <a:t>医保覆盖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5"/>
                </a:solidFill>
              </a:rPr>
              <a:t>T2D 适应症可进医保；减重通常自费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C85"/>
                </a:solidFill>
              </a:rPr>
              <a:t>类似药冲击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97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5"/>
                </a:solidFill>
              </a:rPr>
              <a:t>2026 司美格鲁肽仿制药 NDA 后期，价格压力加剧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56692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</a:rPr>
              <a:t>MASH 市场 | 认知阶段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5"/>
                </a:solidFill>
              </a:rPr>
              <a:t>MASH 曾用名 NASH（非酒精性脂肪性肝炎）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5"/>
                </a:solidFill>
              </a:rPr>
              <a:t>全球已有药物获批（Resmetirom · Semaglutide 2.4mg）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030"/>
                </a:solidFill>
              </a:rPr>
              <a:t>中国尚无 MASH 适应症获批药物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5"/>
                </a:solidFill>
              </a:rPr>
              <a:t>诊断链条不成熟，支付价值尚需论证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7C85"/>
                </a:solidFill>
              </a:rPr>
              <a:t>将成为 GLP-1 竞争差异化的下一战场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114300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109728" cy="237744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</a:rPr>
              <a:t>BI 核心资产 | survodutide (GCG/GLP-1) 差异化定位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F3A"/>
                </a:solidFill>
              </a:rPr>
              <a:t>适应症：肥胖 / T2D / MASH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F3A"/>
                </a:solidFill>
              </a:rPr>
              <a:t>机制：Gcg / GLP-1 双受体激动剂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F3A"/>
                </a:solidFill>
              </a:rPr>
              <a:t>MASH II 期阳性，III 期计划中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965E"/>
                </a:solidFill>
              </a:rPr>
              <a:t>差异化定位：代谢器官保护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6634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F3A"/>
                </a:solidFill>
              </a:rPr>
              <a:t>竞争对手：诺和诺德 GLP-1 · 礼来 GIP/GLP-1 · 信达 GCG/GLP-1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C85"/>
                </a:solidFill>
              </a:rPr>
              <a:t>关键窗口：MASH 标签建立前（2027-2028）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F3A"/>
                </a:solidFill>
              </a:rPr>
              <a:t>战略路径：筛查路径 + 证据叙事 + 数字化闭环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中国 GLP-1 竞争格局 | 2026 Q1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企业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143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产品 / 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143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中国已获批适应症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143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商业要点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1143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BI关注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08760"/>
            <a:ext cx="11430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459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A"/>
                </a:solidFill>
              </a:rPr>
              <a:t>诺和诺德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6459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F3A"/>
                </a:solidFill>
              </a:rPr>
              <a:t>司美格鲁肽注射/片
利拉鲁肽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16459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F3A"/>
                </a:solidFill>
              </a:rPr>
              <a:t>T2D · 减重(2.4mg)
MASH 适应症扩展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5819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品牌心智最强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828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数字化患者管理领先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164591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A800"/>
                </a:solidFill>
              </a:rPr>
              <a:t>★★★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48839"/>
            <a:ext cx="1143000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28599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A"/>
                </a:solidFill>
              </a:rPr>
              <a:t>礼来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2859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F3A"/>
                </a:solidFill>
              </a:rPr>
              <a:t>替尔泊肽(GIP/GLP-1)
度拉糖肽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28599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F3A"/>
                </a:solidFill>
              </a:rPr>
              <a:t>T2D · 减重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221991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疗效标杆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46887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医保准入将改变处方结构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228599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A800"/>
                </a:solidFill>
              </a:rPr>
              <a:t>★★★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788920"/>
            <a:ext cx="11430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9260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A"/>
                </a:solidFill>
              </a:rPr>
              <a:t>信达生物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2926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F3A"/>
                </a:solidFill>
              </a:rPr>
              <a:t>玛仕度肽(GCG/GLP-1)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29260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F3A"/>
                </a:solidFill>
              </a:rPr>
              <a:t>T2D(2025) · 减重(2025)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8620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首个国产双受体减重药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108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肝脂改善数据可抢占MASLD心智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29260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A800"/>
                </a:solidFill>
              </a:rPr>
              <a:t>★★★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428999"/>
            <a:ext cx="1143000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5661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A"/>
                </a:solidFill>
              </a:rPr>
              <a:t>华东医药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5661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F3A"/>
                </a:solidFill>
              </a:rPr>
              <a:t>利拉鲁肽生物类似药
司美格鲁肽类似药布局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35661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F3A"/>
                </a:solidFill>
              </a:rPr>
              <a:t>T2D · 肥胖/超重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502151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国产替代和院外/线上渠道能力强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374903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价格竞争压力大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35661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C85"/>
                </a:solidFill>
              </a:rPr>
              <a:t>★★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069079"/>
            <a:ext cx="11430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A"/>
                </a:solidFill>
              </a:rPr>
              <a:t>银诺医药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F3A"/>
                </a:solidFill>
              </a:rPr>
              <a:t>依苏帕格鲁肽α
(国产原研长效)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F3A"/>
                </a:solidFill>
              </a:rPr>
              <a:t>T2D(2025)
2025医保目录进入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142231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国产原研长效GLP-1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38911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医保放量值得跟踪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4206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C85"/>
                </a:solidFill>
              </a:rPr>
              <a:t>★★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709160"/>
            <a:ext cx="1143000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846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A"/>
                </a:solidFill>
              </a:rPr>
              <a:t>先为达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168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F3A"/>
                </a:solidFill>
              </a:rPr>
              <a:t>埃诺格鲁肽
(cAMP偏向型)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F3A"/>
                </a:solidFill>
              </a:rPr>
              <a:t>T2D(2026获批)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47823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机制差异化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5029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后续减重拓展是关注点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60" y="4846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C85"/>
                </a:solidFill>
              </a:rPr>
              <a:t>★★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349240"/>
            <a:ext cx="11430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5486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A"/>
                </a:solidFill>
              </a:rPr>
              <a:t>恒瑞医药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1168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F3A"/>
                </a:solidFill>
              </a:rPr>
              <a:t>HRS9531(GLP-1/GIP)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23360" y="5486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F3A"/>
                </a:solidFill>
              </a:rPr>
              <a:t>NDA获受理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542239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国产双靶点减重竞争可能提前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566927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2026-2027关键观察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81360" y="5486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A800"/>
                </a:solidFill>
              </a:rPr>
              <a:t>★★★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" y="5943600"/>
            <a:ext cx="91440" cy="64008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F3A"/>
                </a:solidFill>
              </a:rPr>
              <a:t>BI洞察：survodutide 需要提前占位「代谢肝病」——不是又一个减重药，而是面向肥胖/T2D合并肝脏风险人群的代谢器官保护方案。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核心竞品深度：诺和诺德 &amp; 礼来 | Q1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09728" cy="539496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3A"/>
                </a:solidFill>
              </a:rPr>
              <a:t>诺和诺德 Novo Nordisk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5"/>
                </a:solidFill>
              </a:rPr>
              <a:t>Q1 2026 全球收入指引 $23B · +Low single digit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C85"/>
                </a:solidFill>
              </a:rPr>
              <a:t>产品组合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司美格鲁肽注射液(Ozempic) · T2D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司美格鲁肽片(Rybelsus) · T2D 口服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Wegovy(2.4mg) · 减重适应症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965E"/>
                </a:solidFill>
              </a:rPr>
              <a:t>Wegovy 美获批 MASH 适应症(F2-F3)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1A1F3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C85"/>
                </a:solidFill>
              </a:rPr>
              <a:t>中国市场策略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诺和关怀小程序 + 京东健康/方舟健客合作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减重：商保/自费为主，院内处方扩张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030"/>
                </a:solidFill>
              </a:rPr>
              <a:t>MASH 标签扩展需中国注册策略支持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1A1F3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C85"/>
                </a:solidFill>
              </a:rPr>
              <a:t>数字化患者管理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最接近「药品+服务」闭环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患者教育/血糖/生活方式管理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慢病随访 + 线上问诊 + 复购提醒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1A1F3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03030"/>
                </a:solidFill>
              </a:rPr>
              <a:t>市场挑战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美国宠物市场放缓（非相关但示警）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中国类似药竞争 + 价格压力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7C85"/>
                </a:solidFill>
              </a:rPr>
              <a:t>GLP-1 红海需差异化叙事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54864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109728" cy="539496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3A"/>
                </a:solidFill>
              </a:rPr>
              <a:t>礼来 Eli Lilly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5"/>
                </a:solidFill>
              </a:rPr>
              <a:t>Q1 2026 Tirzepatide 全球放量 · 疗效标杆确立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C85"/>
                </a:solidFill>
              </a:rPr>
              <a:t>产品组合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替尔泊肽 Mounjaro · T2D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替尔泊肽 Zepbound · 减重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度拉糖肽 Trulicity · T2D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965E"/>
                </a:solidFill>
              </a:rPr>
              <a:t>GIP/GLP-1 双靶点，疗效数据最优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1A1F3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C85"/>
                </a:solidFill>
              </a:rPr>
              <a:t>中国市场策略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医保准入：T2D 适应症推进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替尔泊肽中国获批 T2D + 减重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030"/>
                </a:solidFill>
              </a:rPr>
              <a:t>价格与医保将改变处方结构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1A1F3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C85"/>
                </a:solidFill>
              </a:rPr>
              <a:t>数字化布局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企业官网 + 疾病教育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患者支持与线上信息服务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LillyDirect 直达患者经验（全球）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1A1F3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965E"/>
                </a:solidFill>
              </a:rPr>
              <a:t>BI启示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3A"/>
                </a:solidFill>
              </a:rPr>
              <a:t>高疗效产品配套数字化期望管理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7C85"/>
                </a:solidFill>
              </a:rPr>
              <a:t>survodutide 需证明肝脏获益差异化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国内竞品深度：信达 · 华东 · 银诺 · 先为达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743200" cy="109728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F3A"/>
                </a:solidFill>
              </a:rPr>
              <a:t>信达生物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800"/>
                </a:solidFill>
              </a:rPr>
              <a:t>★★★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玛仕度肽 (GCG/GLP-1)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77440"/>
            <a:ext cx="246888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C85"/>
                </a:solidFill>
              </a:rPr>
              <a:t>2025 获批 T2D + 减重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C85"/>
                </a:solidFill>
              </a:rPr>
              <a:t>首个国产双受体减重药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• 肝脂改善数据可抢占MASLD/MASH前置心智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4903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• 零售/线上平台+连锁药房合作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9767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• 老百姓大药房等代谢疾病管理探索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097280"/>
            <a:ext cx="27432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1097280"/>
            <a:ext cx="2743200" cy="109728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80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F3A"/>
                </a:solidFill>
              </a:rPr>
              <a:t>华东医药/中美华东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1664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800"/>
                </a:solidFill>
              </a:rPr>
              <a:t>★★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利拉鲁肽生物类似药·司美格鲁肽类似药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377440"/>
            <a:ext cx="246888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423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C85"/>
                </a:solidFill>
              </a:rPr>
              <a:t>T2D + 肥胖/超重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79" y="2743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5E"/>
                </a:solidFill>
              </a:rPr>
              <a:t>国产替代和院外渠道能力突出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79" y="3200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• 利鲁平与阿里健康线上首发/合作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79" y="374903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• 价格型竞争者，压缩MNC优势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79" y="429767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• 探索科普患教+在线诊疗+数字化管理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097280"/>
            <a:ext cx="27432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1097280"/>
            <a:ext cx="2743200" cy="109728"/>
          </a:xfrm>
          <a:prstGeom prst="rect">
            <a:avLst/>
          </a:prstGeom>
          <a:solidFill>
            <a:srgbClr val="D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280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F3A"/>
                </a:solidFill>
              </a:rPr>
              <a:t>银诺医药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1664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800"/>
                </a:solidFill>
              </a:rPr>
              <a:t>★★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依苏帕格鲁肽α（国产原研长效GLP-1RA）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377440"/>
            <a:ext cx="246888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2423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C85"/>
                </a:solidFill>
              </a:rPr>
              <a:t>2025 获批T2D·2025医保目录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743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06000"/>
                </a:solidFill>
              </a:rPr>
              <a:t>国产原研长效GLP-1，医保放量可期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200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• 与京东大药房等数智化合作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74903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• 医保后可及路径加速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29767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• 2026执行价格跟踪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1097280"/>
            <a:ext cx="27432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06840" y="1097280"/>
            <a:ext cx="2743200" cy="109728"/>
          </a:xfrm>
          <a:prstGeom prst="rect">
            <a:avLst/>
          </a:prstGeom>
          <a:solidFill>
            <a:srgbClr val="6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1280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F3A"/>
                </a:solidFill>
              </a:rPr>
              <a:t>先为达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1664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800"/>
                </a:solidFill>
              </a:rPr>
              <a:t>★★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埃诺格鲁肽（cAMP偏向型GLP-1RA）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2377440"/>
            <a:ext cx="246888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2423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C85"/>
                </a:solidFill>
              </a:rPr>
              <a:t>2026 获批 T2D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2743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30A0"/>
                </a:solidFill>
              </a:rPr>
              <a:t>机制差异化，后续减重拓展是关注点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200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• cAMP偏向型机制与标准GLP-1差异化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374903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• 减重适应症拓展是未来看点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9767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• 国产创新代表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MASH 市场：全球现状与中国三年窗口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91440" cy="64008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F3A"/>
                </a:solidFill>
              </a:rPr>
              <a:t>中国市场现状：截至本报告日期，未见中国获批MASH适应症治疗药物。全球已有Resmetirom、Semaglutide 2.4mg形成标签信号，中国市场需等待注册策略落地。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109728" cy="219456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F3A"/>
                </a:solidFill>
              </a:rPr>
              <a:t>全球已获批 MASH 药物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C85"/>
                </a:solidFill>
              </a:rPr>
              <a:t>Rezdiffra / Madrigal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423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THR-β 激动剂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79191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575"/>
                </a:solidFill>
              </a:rPr>
              <a:t>美国加速批准·欧盟条件批准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679191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965E"/>
                </a:solidFill>
              </a:rPr>
              <a:t>MASH标签教育锚点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6323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C85"/>
                </a:solidFill>
              </a:rPr>
              <a:t>Wegovy / 诺和诺德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0632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GLP-1RA 2.4mg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1927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575"/>
                </a:solidFill>
              </a:rPr>
              <a:t>美国获批 MASH F2-F3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3192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965E"/>
                </a:solidFill>
              </a:rPr>
              <a:t>中国减重已有标签，MASH扩展待策略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C85"/>
                </a:solidFill>
              </a:rPr>
              <a:t>Semaglutide 2.4mg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7033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GLP-1RA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5935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575"/>
                </a:solidFill>
              </a:rPr>
              <a:t>MASH临床数据积极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9593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965E"/>
                </a:solidFill>
              </a:rPr>
              <a:t>全球数据支持肝脏获益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920240"/>
            <a:ext cx="58521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1920240"/>
            <a:ext cx="109728" cy="219456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F3A"/>
                </a:solidFill>
              </a:rPr>
              <a:t>BI survodutide 机会窗口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3774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965E"/>
                </a:solidFill>
              </a:rPr>
              <a:t>MASH II 期阳性结果积极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F3A"/>
                </a:solidFill>
              </a:rPr>
              <a:t>GCG/GLP-1 双激动剂机制叙事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07C85"/>
                </a:solidFill>
              </a:rPr>
              <a:t>III 期计划中 · 全球注册推进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1A1F3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F3A"/>
                </a:solidFill>
              </a:rPr>
              <a:t>三年窗口（2026-2028）判断：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F3A"/>
                </a:solidFill>
              </a:rPr>
              <a:t>P0 建立 KOL + 筛查路径 + 证据准备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03030"/>
                </a:solidFill>
              </a:rPr>
              <a:t>避免被玛仕度肽预先占位 GCG/GLP-1 叙事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97680"/>
            <a:ext cx="114300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297680"/>
            <a:ext cx="109728" cy="219456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F3A"/>
                </a:solidFill>
              </a:rPr>
              <a:t>MASH 竞争监测矩阵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54880"/>
            <a:ext cx="2286000" cy="27432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7823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产品/企业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4754880"/>
            <a:ext cx="1645920" cy="27432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20" y="4782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机制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754880"/>
            <a:ext cx="3200400" cy="27432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478231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中国三年窗口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4754880"/>
            <a:ext cx="4023360" cy="27432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478231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BI 应对要点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074920"/>
            <a:ext cx="2286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0" y="5074920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0" y="5074920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89520" y="5074920"/>
            <a:ext cx="4023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1206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1F3A"/>
                </a:solidFill>
              </a:rPr>
              <a:t>Rezdiffra / Madrigal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51206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575"/>
                </a:solidFill>
              </a:rPr>
              <a:t>THR-β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51206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F3A"/>
                </a:solidFill>
              </a:rPr>
              <a:t>若启动中国注册，有望成为标签锚点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51206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F3A"/>
                </a:solidFill>
              </a:rPr>
              <a:t>监测注册策略；MASH教育合作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413248"/>
            <a:ext cx="228600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43200" y="5413248"/>
            <a:ext cx="164592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89120" y="5413248"/>
            <a:ext cx="320040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89520" y="5413248"/>
            <a:ext cx="402336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54589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1F3A"/>
                </a:solidFill>
              </a:rPr>
              <a:t>Wegovy / 诺和诺德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88920" y="54589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575"/>
                </a:solidFill>
              </a:rPr>
              <a:t>GLP-1RA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34840" y="54589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F3A"/>
                </a:solidFill>
              </a:rPr>
              <a:t>中国减重已有标签，MASH扩展待策略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545896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F3A"/>
                </a:solidFill>
              </a:rPr>
              <a:t>避免单独减重竞争；绑定肝脏叙事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751576"/>
            <a:ext cx="2286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0" y="5751576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89120" y="5751576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589520" y="5751576"/>
            <a:ext cx="4023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57972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1F3A"/>
                </a:solidFill>
              </a:rPr>
              <a:t>survodutide / BI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8920" y="57972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575"/>
                </a:solidFill>
              </a:rPr>
              <a:t>GCG/GLP-1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4840" y="579729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F3A"/>
                </a:solidFill>
              </a:rPr>
              <a:t>III期+中国注册·最相关BI机会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57972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F3A"/>
                </a:solidFill>
              </a:rPr>
              <a:t>P0建立疾病框架+筛查路径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089904"/>
            <a:ext cx="228600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743200" y="6089904"/>
            <a:ext cx="164592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89120" y="6089904"/>
            <a:ext cx="320040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589520" y="6089904"/>
            <a:ext cx="402336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6135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1F3A"/>
                </a:solidFill>
              </a:rPr>
              <a:t>efruxifermin / Akero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8920" y="61356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575"/>
                </a:solidFill>
              </a:rPr>
              <a:t>FGF21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34840" y="61356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F3A"/>
                </a:solidFill>
              </a:rPr>
              <a:t>全球III期·中国短期不确定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613562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F3A"/>
                </a:solidFill>
              </a:rPr>
              <a:t>机制竞争监测对象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6428232"/>
            <a:ext cx="2286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743200" y="6428232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389120" y="6428232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89520" y="6428232"/>
            <a:ext cx="4023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920" y="64739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1F3A"/>
                </a:solidFill>
              </a:rPr>
              <a:t>玛仕度肽 / 信达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88920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575"/>
                </a:solidFill>
              </a:rPr>
              <a:t>GCG/GLP-1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34840" y="647395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F3A"/>
                </a:solidFill>
              </a:rPr>
              <a:t>中国减重/T2D已获批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35240" y="647395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F3A"/>
                </a:solidFill>
              </a:rPr>
              <a:t>防止GCG/GLP-1叙事被抢先占位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未来三年上市窗口 | 2026-2028 GLP-1 / MASH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566160" cy="54864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35661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91440" cy="146304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F3A"/>
                </a:solidFill>
              </a:rPr>
              <a:t>司美格鲁肽类似药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九源/华东/石药/齐鲁/联邦/丽珠多个NDA后期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C85"/>
                </a:solidFill>
              </a:rPr>
              <a:t>⚡ T2D先行，减重随后·价格冲击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37560"/>
            <a:ext cx="35661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337560"/>
            <a:ext cx="91440" cy="146304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F3A"/>
                </a:solidFill>
              </a:rPr>
              <a:t>HRS9531 / 恒瑞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GLP-1/GIP 双激动剂 NDA 获受理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C85"/>
                </a:solidFill>
              </a:rPr>
              <a:t>⚡ 国产双靶点减重竞争提前到来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097280"/>
            <a:ext cx="3566160" cy="54864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188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737360"/>
            <a:ext cx="35661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1737360"/>
            <a:ext cx="91440" cy="146304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F3A"/>
                </a:solidFill>
              </a:rPr>
              <a:t>survodutide / 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GCG/GLP-1 肥胖 III期中国同步递交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965E"/>
                </a:solidFill>
              </a:rPr>
              <a:t>⚡ 上市取决于全球III期与中国注册策略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337560"/>
            <a:ext cx="35661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3337560"/>
            <a:ext cx="91440" cy="146304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F3A"/>
                </a:solidFill>
              </a:rPr>
              <a:t>玛仕度肽扩展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T2D已获批，OSA/MASLD/MASH代谢证据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251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965E"/>
                </a:solidFill>
              </a:rPr>
              <a:t>⚡ 强化复合价值，抢占肝脏前置心智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097280"/>
            <a:ext cx="3566160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1188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2028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1737360"/>
            <a:ext cx="35661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1737360"/>
            <a:ext cx="91440" cy="14630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F3A"/>
                </a:solidFill>
              </a:rPr>
              <a:t>口服 GLP-1 / 小分子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orforglipron 等全球领先项目可能改写依从性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A800"/>
                </a:solidFill>
              </a:rPr>
              <a:t>⚡ 中国时间需监管确认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3337560"/>
            <a:ext cx="35661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3337560"/>
            <a:ext cx="91440" cy="14630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F3A"/>
                </a:solidFill>
              </a:rPr>
              <a:t>复方/三靶点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CagriSema·Retatrutide 全球数据抬高疗效预期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251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A800"/>
                </a:solidFill>
              </a:rPr>
              <a:t>⚡ 中国引入取决于注册桥接和产能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6126480"/>
            <a:ext cx="91440" cy="4572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F3A"/>
                </a:solidFill>
              </a:rPr>
              <a:t>研判：三年内最确定的是司美格鲁肽类似药带来的价格/准入冲击；最值得 BI 提前防守的是 GCG/GLP-1 机制叙事被国产玛仕度肽预先占位。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BI 战略含义与行动路线图 | Strategic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09728" cy="219456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</a:rPr>
              <a:t>survodutide 战略定位：从「减重药」到「代谢器官保护方案」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246888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1828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C85"/>
                </a:solidFill>
              </a:rPr>
              <a:t>P0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F3A"/>
                </a:solidFill>
              </a:rPr>
              <a:t>建立疾病框架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把MASH与肥胖/T2D高危人群连接，避免被理解成单一减重药竞争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737360"/>
            <a:ext cx="246888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828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65E"/>
                </a:solidFill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F3A"/>
                </a:solidFill>
              </a:rPr>
              <a:t>打造筛查路径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联合肝病/内分泌/体重管理中心，推动非侵入检测与转诊路径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737360"/>
            <a:ext cx="246888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0C0"/>
                </a:solidFill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F3A"/>
                </a:solidFill>
              </a:rPr>
              <a:t>构建证据叙事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从体重→肝脂→ALT/AST→纤维化指标，形成多终点价值阶梯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737360"/>
            <a:ext cx="246888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19" y="1828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800"/>
                </a:solidFill>
              </a:rPr>
              <a:t>P3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F3A"/>
                </a:solidFill>
              </a:rPr>
              <a:t>设计数字闭环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风险评估→筛查提醒→复诊→药房复购→KOL内容矩阵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474720"/>
            <a:ext cx="1143000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474720"/>
            <a:ext cx="109728" cy="306324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66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</a:rPr>
              <a:t>12 个月市场情报与营销准备路线图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23360"/>
            <a:ext cx="1645920" cy="27432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05079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阶段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4023360"/>
            <a:ext cx="2286000" cy="27432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4050791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重点问题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023360"/>
            <a:ext cx="3840480" cy="27432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4050791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关键动作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4023360"/>
            <a:ext cx="3474720" cy="27432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4050791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输出物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34340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03120" y="434340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89120" y="4343400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4343400"/>
            <a:ext cx="3474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434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C85"/>
                </a:solidFill>
              </a:rPr>
              <a:t>0-3个月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4434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竞品上市与价格变化如何影响医生心智？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434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建立GLP-1/MASH竞品watchlist；跟踪NMPA/CDE、NRDL、渠道价格、电商可及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434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月度竞争情报简报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873752"/>
            <a:ext cx="164592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103120" y="4873752"/>
            <a:ext cx="22860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89120" y="4873752"/>
            <a:ext cx="384048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0" y="4873752"/>
            <a:ext cx="347472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9651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C85"/>
                </a:solidFill>
              </a:rPr>
              <a:t>3-6个月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49651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哪些患者最能承接survodutide价值？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496519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定义肥胖/T2D/MASLD高危分层；访谈肝病/内分泌KOL；梳理筛查路径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9651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患者旅程与目标科室地图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404104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103120" y="5404104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89120" y="5404104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29600" y="5404104"/>
            <a:ext cx="3474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54955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C85"/>
                </a:solidFill>
              </a:rPr>
              <a:t>6-9个月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48840" y="54955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数字化闭环如何落地？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4840" y="549554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设计风险测评、复诊提醒、生活方式管理、药房承接和合规内容矩阵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54955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Digital solution MVP蓝图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934456"/>
            <a:ext cx="164592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103120" y="5934456"/>
            <a:ext cx="22860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89120" y="5934456"/>
            <a:ext cx="384048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600" y="5934456"/>
            <a:ext cx="347472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602589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C85"/>
                </a:solidFill>
              </a:rPr>
              <a:t>9-12个月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48840" y="60258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未来医保/商保如何论证？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34840" y="60258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准备MASH经济学模型、真实世界证据框架、支付方价值故事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75320" y="60258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准入价值信息包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总结与优先监测清单 | Summary &amp; Priority Watch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71323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09728" cy="2926080"/>
          </a:xfrm>
          <a:prstGeom prst="rect">
            <a:avLst/>
          </a:prstGeom>
          <a:solidFill>
            <a:srgbClr val="00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</a:rPr>
              <a:t>竞争格局核心判断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658368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190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C85"/>
                </a:solidFill>
              </a:rPr>
              <a:t>短期（2026）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719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A"/>
                </a:solidFill>
              </a:rPr>
              <a:t>GLP-1 红海 + 类似药价格冲击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survodutide 需差异化，不参与泛T2D红海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23160"/>
            <a:ext cx="658368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96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C85"/>
                </a:solidFill>
              </a:rPr>
              <a:t>中期（2027）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496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A"/>
                </a:solidFill>
              </a:rPr>
              <a:t>MASH 战场开启，标签争夺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889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survodutide III期+中国注册是战略关键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658368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C85"/>
                </a:solidFill>
              </a:rPr>
              <a:t>长期（2028+）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273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A"/>
                </a:solidFill>
              </a:rPr>
              <a:t>真实世界管理闭环决胜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6616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数字化患者管理+医保价值论证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1097280"/>
            <a:ext cx="40233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1097280"/>
            <a:ext cx="109728" cy="292608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1188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</a:rPr>
              <a:t>优先监测清单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1691640"/>
            <a:ext cx="3749039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17373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ὐd 司美格鲁肽类似药首批批件与价格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2103120"/>
            <a:ext cx="3749039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2148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ὐd HRS9531 审批节奏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2514600"/>
            <a:ext cx="3749039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2560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ὐd 玛仕度肽渠道与医保路径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2926080"/>
            <a:ext cx="3749039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29718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ὐd 诺和诺德 MASH 标签中国策略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3337560"/>
            <a:ext cx="3749039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3383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ὐd BI survodutide 全球III期/中国注册进展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3749040"/>
            <a:ext cx="3749039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7947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A"/>
                </a:solidFill>
              </a:rPr>
              <a:t>ὐd 信达 GCG/GLP-1 肝脏数据发布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206240"/>
            <a:ext cx="114300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206240"/>
            <a:ext cx="109728" cy="233172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</a:rPr>
              <a:t>BI 行动建议 | Action Items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754880"/>
            <a:ext cx="2468880" cy="1600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19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C85"/>
                </a:solidFill>
              </a:rPr>
              <a:t>P0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19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F3A"/>
                </a:solidFill>
              </a:rPr>
              <a:t>建立疾病框架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19" y="54406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把MASH与肥胖/T2D高危人群连接，避免被理解为单一减重药竞争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0" y="4754880"/>
            <a:ext cx="2468880" cy="1600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5E"/>
                </a:solidFill>
              </a:rPr>
              <a:t>P0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F3A"/>
                </a:solidFill>
              </a:rPr>
              <a:t>打造筛查路径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54406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联合肝病、内分泌、体重管理中心，推动非侵入检测与转诊路径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4754880"/>
            <a:ext cx="2468880" cy="1600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C0"/>
                </a:solidFill>
              </a:rPr>
              <a:t>P1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F3A"/>
                </a:solidFill>
              </a:rPr>
              <a:t>构建证据叙事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4406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从体重、肝脂、ALT/AST到纤维化指标，形成多终点价值阶梯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4754880"/>
            <a:ext cx="2468880" cy="1600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61119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00"/>
                </a:solidFill>
              </a:rPr>
              <a:t>P1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19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F3A"/>
                </a:solidFill>
              </a:rPr>
              <a:t>设计数字闭环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19" y="54406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575"/>
                </a:solidFill>
              </a:rPr>
              <a:t>风险测评、复诊提醒、生活方式跟踪、药房复购与KOL内容矩阵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