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宠物竞争者生态 2026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Boehringer Ingelheim Pet Competitor Ecosystem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3200400" cy="54864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市场趋势 · 竞品动态 · BI对策 · 行业洞察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E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最新情报：2026年5月竞品池确认 · 国产替代深化 · 渠道与数字化机会 · BI行动建议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数据截至：2026年5月13日  |  非官方披露数据仅供内部使用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132320" y="4251960"/>
            <a:ext cx="1645920" cy="502920"/>
          </a:xfrm>
          <a:prstGeom prst="rect">
            <a:avLst/>
          </a:prstGeom>
          <a:solidFill>
            <a:srgbClr val="00E47C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132320" y="4251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China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Health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市场概览 | Market Overview — 猫狗增长趋势 &amp; 核心数据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3,100+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中国宠物市场规模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Pet Market Size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1460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65176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宠物医疗消费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Medical Consumption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0916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84632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宠物药品市场规模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Pharma Market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0372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04088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4088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宠物药品市场增速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Pharma CAGR 2026-31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2194560"/>
            <a:ext cx="41605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2194560"/>
            <a:ext cx="4160520" cy="41148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21945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🐱 猫咪市场 | Cat Market — 最大增量来源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2679192"/>
            <a:ext cx="3886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猫数量7,200万只，增速CAGR ~8%，已超越狗成为最大宠物品类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室内猫比例&gt;70%，"不出门不驱虫"误区→最大认知缺口，教育空间大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国产猫三联疫苗突破：海正「海妙哆」填补国产高端空白，2025年2月上市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猫用滴剂最优剂型（优于口服），猫咪喂药难→滴剂依从性更高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BI猫用：NexGard COMBO（首个且唯一获批治疗绦虫），博来恩（猫用）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194560"/>
            <a:ext cx="41605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194560"/>
            <a:ext cx="4160520" cy="41148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31" name="Text 29"/>
          <p:cNvSpPr/>
          <p:nvPr/>
        </p:nvSpPr>
        <p:spPr>
          <a:xfrm>
            <a:off x="4800600" y="21945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🐕 狗狗市场 | Dog Market — 高价值处方药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00600" y="2679192"/>
            <a:ext cx="3886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狗数量5,800万只，增速CAGR ~3%，整体消费能力高于猫（年消费4,000-6,000元）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户外暴露场景多，驱虫频次需求更高（蜱虫、心丝虫高发区）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超可信中国率先获批治疗犬疥螨、蠕形螨（异恶唑啉类）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宠物医院+电商双渠道布局深化，兽医推荐影响力大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BI产品：超可信、福来恩、福味恩、尼可信、犬心保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数据来源：艾媒咨询、前瞻网、中国畜牧业协会宠物产业分会、派读宠物行业大数据平台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中国宠物驱虫竞争格局 2026 Q1 | China Pet Dewormer Competitive Snapshot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274320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 Zoetis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22.62亿美元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6459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965960"/>
            <a:ext cx="27432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国际+17% / +10% organic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3591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▼美国伴侣动物-11%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46120" y="804672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804672"/>
            <a:ext cx="2743200" cy="457200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8046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 Elanco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1298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13.71亿美元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383280" y="16459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+15%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46120" y="1965960"/>
            <a:ext cx="27432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9" name="Text 17"/>
          <p:cNvSpPr/>
          <p:nvPr/>
        </p:nvSpPr>
        <p:spPr>
          <a:xfrm>
            <a:off x="338328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Zenrelia/Credelio Quattro放量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83280" y="23591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净负债约33亿美元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72200" y="804672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72200" y="804672"/>
            <a:ext cx="274320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8046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 MSD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12984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18亿美元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309360" y="16459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72200" y="1965960"/>
            <a:ext cx="27432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多元化组合稳健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09360" y="23591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宠物线相对平淡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0040" y="28346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28346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28346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" y="2907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消费分层与价格敏感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7240" y="31821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宠主比价、复购和大促行为增强，高端外资品牌需要用专业价值抵御价格战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46120" y="28346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46120" y="28346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6" name="Text 34"/>
          <p:cNvSpPr/>
          <p:nvPr/>
        </p:nvSpPr>
        <p:spPr>
          <a:xfrm>
            <a:off x="3246120" y="28346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703320" y="2907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创新与便利性共同驱动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703320" y="31821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长效、省心、内外同驱、猫友好剂型成为差异化表达核心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172200" y="28346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172200" y="28346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1" name="Text 39"/>
          <p:cNvSpPr/>
          <p:nvPr/>
        </p:nvSpPr>
        <p:spPr>
          <a:xfrm>
            <a:off x="6172200" y="28346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29400" y="2907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中国市场进入运营战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629400" y="31821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医院专业背书、电商搜索卡位、私域复购提醒需要形成闭环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数据来源：Zoetis / Elanco / Merck Q1 2026官方财报；公开资料与市场观察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竞品分析：硕腾 Zoetis 驱虫药 | Zoetis Parasiticide Portfolio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976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96.8-99.6亿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2976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美元 2026收入指引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51460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2432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22.62亿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2432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美元 Q1营收 / +3% YoY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1888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1888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美国伴侣动物同比下滑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90372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1344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1344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国际市场增长关键引擎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0040" y="1828800"/>
            <a:ext cx="41605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1828800"/>
            <a:ext cx="54864" cy="86868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" y="1883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大宠爱 Revolution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305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犬猫 | 外用滴剂 | 内外驱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" y="2331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赛拉菌素；体内外寄生虫及心丝虫预防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0040" y="2788920"/>
            <a:ext cx="41605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2788920"/>
            <a:ext cx="54864" cy="86868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28437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妙宠爱 Revolution Plus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5488" y="30906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 | 外用滴剂 | 内外驱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" y="3291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赛拉菌素+沙罗拉纳；跳蚤、蜱虫、耳螨等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63440" y="1828800"/>
            <a:ext cx="416052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1828800"/>
            <a:ext cx="4160520" cy="384048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9" name="Text 27"/>
          <p:cNvSpPr/>
          <p:nvPr/>
        </p:nvSpPr>
        <p:spPr>
          <a:xfrm>
            <a:off x="4800600" y="182880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驱虫药市场挑战 | Dewormer Market Challenges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00600" y="228600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利润预警：宠主削减开支、减少就诊，高端宠物护理承压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中国驱虫药市场国产品牌性价比优势持续蚕食外资份额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大宠爱/妙宠爱在中国核心是犬猫滴剂心智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猫端仍以滴剂便利性、安全感和兽医推荐为关键竞争点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0040" y="4041648"/>
            <a:ext cx="8503920" cy="54864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02920" y="404164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洞察：硕腾在中国驱虫核心资产是大宠爱/妙宠爱的犬猫滴剂心智。BI犬端应突出超可信口服内外同驱与高阶预防；猫端重点对标滴剂便利性与猫主接受度。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数据来源：Zoetis Q1 2026官方财报、Zoetis中国大宠爱/妙宠爱公开资料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宠物药品清单 — 非处方药 | BIAH Pet Product List (Non-Rx)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25880"/>
                <a:gridCol w="1508760"/>
                <a:gridCol w="1783080"/>
                <a:gridCol w="29718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药品类别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药品名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客户及疗效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竞争对手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2025销量对比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超可信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NexGard Spectra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狗驱虫，内外同驱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大宠爱（硕腾）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爱沃克（拜耳）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超可信 1.44亿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大宠爱 3.6亿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博来恩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Broadkick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猫驱虫，内外同驱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妙宠爱（硕腾）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博来恩 1.08亿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妙宠爱 1.8亿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福味恩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贝卫多（默沙东）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欣宠克（礼蓝）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福味恩 0.48亿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尼可信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贝卫多（默沙东）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欣宠克（礼蓝）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尼可信 0.72亿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福来恩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Frontline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狗驱虫，滴剂外驱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拜宠爽（拜耳）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恩倍多（瑞普生物）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福来恩 1.44亿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拜宠爽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犬心保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Sentinel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狗驱虫，口服内驱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拜宠清（拜耳）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海乐妙（海正）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犬心保 0.60亿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拜宠清 1.8亿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800600"/>
            <a:ext cx="7315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注：以上数据基于市场调研和行业估算，非官方披露数据  |  Data based on market research estimates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800600"/>
            <a:ext cx="14630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USE ONLY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| 核心战略结论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2286000" cy="3657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005840"/>
            <a:ext cx="2057400" cy="10972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7899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100→200亿+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14904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元 驱虫药市场增长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15-18%，猫是最大增量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514600" y="1005840"/>
            <a:ext cx="2057400" cy="10972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2606040" y="107899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606040" y="14904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渠道占比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电商是销售主战场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2057400" cy="10972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07899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40→70%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00600" y="14904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目标规律驱虫率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复购率每+5%=LTV+20%+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903720" y="1005840"/>
            <a:ext cx="2057400" cy="10972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995160" y="107899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25-30%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95160" y="14904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溢价意愿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高端价格带愿为安全便捷付溢价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" y="22128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8大战略方向已明确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2606040"/>
            <a:ext cx="4160520" cy="493776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606040"/>
            <a:ext cx="365760" cy="49377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" y="2606040"/>
            <a:ext cx="365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26517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内外同驱+猫用滴剂为突破口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77240" y="287121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BI超可信是品类标杆，依从性提升30%+，CAGR 20%+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09160" y="2606040"/>
            <a:ext cx="4160520" cy="493776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709160" y="2606040"/>
            <a:ext cx="365760" cy="49377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2606040"/>
            <a:ext cx="365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166360" y="26517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P0优先级：猫+幼宠+室内猫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66360" y="287121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三大机会市场同时启动，最大认知缺口在"室内猫不用驱虫"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20040" y="3172968"/>
            <a:ext cx="4160520" cy="493776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3172968"/>
            <a:ext cx="365760" cy="49377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" y="3172968"/>
            <a:ext cx="365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" y="32186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内容种草×会员复购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77240" y="34381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电商55%×内容种草+会员体系是核心竞争力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09160" y="3172968"/>
            <a:ext cx="4160520" cy="493776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709160" y="3172968"/>
            <a:ext cx="365760" cy="49377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5" name="Text 33"/>
          <p:cNvSpPr/>
          <p:nvPr/>
        </p:nvSpPr>
        <p:spPr>
          <a:xfrm>
            <a:off x="4709160" y="3172968"/>
            <a:ext cx="365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32186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2026行动年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166360" y="34381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猫用滴剂新规格+幼宠首购+内容营销同步启动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20040" y="3739896"/>
            <a:ext cx="4160520" cy="493776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20040" y="3739896"/>
            <a:ext cx="365760" cy="49377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0" name="Text 38"/>
          <p:cNvSpPr/>
          <p:nvPr/>
        </p:nvSpPr>
        <p:spPr>
          <a:xfrm>
            <a:off x="320040" y="3739896"/>
            <a:ext cx="365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77240" y="378561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25%+ 2030目标市场份额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77240" y="40050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建立预防医疗生态，从单品到全生命周期管理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709160" y="3739896"/>
            <a:ext cx="4160520" cy="493776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709160" y="3739896"/>
            <a:ext cx="365760" cy="49377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5" name="Text 43"/>
          <p:cNvSpPr/>
          <p:nvPr/>
        </p:nvSpPr>
        <p:spPr>
          <a:xfrm>
            <a:off x="4709160" y="3739896"/>
            <a:ext cx="365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166360" y="378561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医院×电商×O2O三轨并进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166360" y="40050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教育渠道建立信任，转化渠道直接销售，复购渠道留存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20040" y="4306824"/>
            <a:ext cx="4160520" cy="493776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320040" y="4306824"/>
            <a:ext cx="365760" cy="49377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50" name="Text 48"/>
          <p:cNvSpPr/>
          <p:nvPr/>
        </p:nvSpPr>
        <p:spPr>
          <a:xfrm>
            <a:off x="320040" y="4306824"/>
            <a:ext cx="365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77240" y="4352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不参与价格战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77240" y="45720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高端溢价定位，赠品替代降价，保护品牌资产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709160" y="4306824"/>
            <a:ext cx="4160520" cy="493776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4709160" y="4306824"/>
            <a:ext cx="365760" cy="49377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55" name="Text 53"/>
          <p:cNvSpPr/>
          <p:nvPr/>
        </p:nvSpPr>
        <p:spPr>
          <a:xfrm>
            <a:off x="4709160" y="4306824"/>
            <a:ext cx="365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166360" y="4352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数字化复购闭环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5166360" y="45720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驱虫日历+AI提醒+医院档案，会员复购率目标50%+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65760" y="4727448"/>
            <a:ext cx="8412480" cy="3931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59" name="Text 57"/>
          <p:cNvSpPr/>
          <p:nvPr/>
        </p:nvSpPr>
        <p:spPr>
          <a:xfrm>
            <a:off x="502920" y="4727448"/>
            <a:ext cx="8138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BI行动核心：以超可信/博来恩建立高阶预防心智 + 用数字化闭环连接医院 + 用风险地图/AI问答形成数字护城河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一、市场趋势总览 | 猫 vs 狗对比 2026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4864" cy="10058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5953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~2,800亿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宠物市场总量（2024）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~12%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14600" y="804672"/>
            <a:ext cx="20574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804672"/>
            <a:ext cx="54864" cy="10058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85953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1.3亿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651760" y="124358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宠物总数（猫+狗）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增速~4%/年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804672"/>
            <a:ext cx="20574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804672"/>
            <a:ext cx="54864" cy="10058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5953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~100亿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846320" y="124358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驱虫药市场规模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15-18%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03720" y="804672"/>
            <a:ext cx="20574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03720" y="804672"/>
            <a:ext cx="54864" cy="10058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0" y="85953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7,200万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040880" y="124358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猫数量，已超越狗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增速~8%/年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1938528"/>
            <a:ext cx="416052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1938528"/>
            <a:ext cx="411480" cy="585216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193852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1993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宠物数量增长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22219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贡献~40%市场增量，2024-2030净增猫狗5,000-6,000万只，新增主人预防意识更强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0040" y="2596896"/>
            <a:ext cx="416052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2596896"/>
            <a:ext cx="411480" cy="585216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" y="259689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2960" y="265176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单宠消费提升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22960" y="28803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贡献~35%市场增量，预防医学意识崛起，高端化愿为便捷安全溢价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3255264"/>
            <a:ext cx="416052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20040" y="3255264"/>
            <a:ext cx="411480" cy="585216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33" name="Text 31"/>
          <p:cNvSpPr/>
          <p:nvPr/>
        </p:nvSpPr>
        <p:spPr>
          <a:xfrm>
            <a:off x="320040" y="325526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22960" y="331012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驱虫频次提升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2960" y="35387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贡献~25%市场增量，规律驱虫率40-50%→70%，兽医教育×数字提醒是杠杆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663440" y="804672"/>
            <a:ext cx="4160520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63440" y="804672"/>
            <a:ext cx="4160520" cy="438912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8" name="Text 36"/>
          <p:cNvSpPr/>
          <p:nvPr/>
        </p:nvSpPr>
        <p:spPr>
          <a:xfrm>
            <a:off x="4800600" y="804672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🐱 猫 vs 🐕 狗 核心对比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663440" y="1316736"/>
            <a:ext cx="4160520" cy="43891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13167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增速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852160" y="131673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~8% ↑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223760" y="1316736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~3% →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1792224"/>
            <a:ext cx="41605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179222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数量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852160" y="17922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7,200万只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23760" y="1792224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5,800万只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63440" y="2267712"/>
            <a:ext cx="4160520" cy="43891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0" y="226771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消费意愿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852160" y="22677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高端化、年轻化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223760" y="2267712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高但稳定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663440" y="2743200"/>
            <a:ext cx="41605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54880" y="274320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核心场景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852160" y="27432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室内猫、多猫家庭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223760" y="274320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户外、蜱虫、心丝虫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63440" y="3218688"/>
            <a:ext cx="4160520" cy="43891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54880" y="32186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最优剂型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852160" y="321868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滴剂（喂药难）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223760" y="321868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口服+滴剂并重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63440" y="3694176"/>
            <a:ext cx="41605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54880" y="369417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教育缺口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852160" y="369417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「不出门不驱虫」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223760" y="3694176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户外风险认知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663440" y="4169664"/>
            <a:ext cx="4160520" cy="43891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54880" y="416966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BI产品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852160" y="416966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博来恩、NexGard COMBO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223760" y="4169664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超可信、福来恩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68" name="Text 66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估算数据基于合理假设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竞争格局快照 | Competitive Landscape Snapshot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743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2743200" cy="41148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 Zoetis  [全球龙头]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大宠爱/妙宠爱构成强猫狗驱虫心智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医生教育和慢病布局长期强势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Q1国际+17%但美国-11%承压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押注五大慢性病长期赛道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46120" y="804672"/>
            <a:ext cx="2743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804672"/>
            <a:ext cx="2743200" cy="411480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804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 Elanco  [创新驱动]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83280" y="12801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可立奥、索来多项圈、拜宠清覆盖不同剂型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Zenrelia/Credelio Quattro放量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在覆盖诊所中市场份额53%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新兴市场压力大，全年指引上调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72200" y="804672"/>
            <a:ext cx="2743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804672"/>
            <a:ext cx="2743200" cy="41148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804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 MSD  [稳健多元]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09360" y="12801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贝卫多以长效省心定位形成清晰差异化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医院渠道深耕，多元化组合稳健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Q1动物保健+13%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宠物线相对平淡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0040" y="2679192"/>
            <a:ext cx="27432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679192"/>
            <a:ext cx="2743200" cy="411480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67919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海正动保  [⭐重点]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15468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海乐妙猫驱虫市占率第一（2亿元/年）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85%研发投入宠物，矩阵化推进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出海：越南获批，2026目标3-5个海外市场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处方粮2027投产，「药粮联动」布局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46120" y="2679192"/>
            <a:ext cx="571500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679192"/>
            <a:ext cx="5715000" cy="41148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3" name="Text 21"/>
          <p:cNvSpPr/>
          <p:nvPr/>
        </p:nvSpPr>
        <p:spPr>
          <a:xfrm>
            <a:off x="3383280" y="2679192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瑞普/普莱柯  [国产替代]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83280" y="3154680"/>
            <a:ext cx="5440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恩倍多/倍宠恩性价比切入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电商速度和下沉渠道形成持续压力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价格竞争激烈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主要短板：高端品牌信任和兽医背书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0040" y="4498848"/>
            <a:ext cx="8503920" cy="530352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4498848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竞争焦点从单品疗效转向专业信任、渠道效率和复购管理。外资守医院，国产品牌抢价格带+下沉渠道。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数据来源：前瞻网、各公司官方信息、用户确认竞品池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四、产品机会分析 | Product Opportunity Matrix — 猫 vs 犬 × 优先级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60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4160520" cy="47548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 ★★★★★  猫用内外同驱滴剂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353312"/>
            <a:ext cx="38862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最大增量来源，增速最快，BI机会最强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猫CAGR ~8%（远超狗~3%），室内猫误区教育空间大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猫咪喂药难→滴剂是最优解→博来恩猫用滴剂应重点推广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幼宠期建立驱虫习惯→锁定3-5年LTV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BI行动：博来恩家庭装（3支/6支多支装）+「室内猫专用」概念营销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804672"/>
            <a:ext cx="4160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804672"/>
            <a:ext cx="4160520" cy="475488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0467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★★★★☆  犬用超可信咀嚼片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353312"/>
            <a:ext cx="38862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市场规模大，兽医渠道信任度高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超可信口服内外同驱，品类标杆，依从性提升30%+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户外场景（蜱虫、心丝虫）需求刚性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BI行动：医院推荐+电商搜索词防守，强化高阶预防心智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200400"/>
            <a:ext cx="4160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3200400"/>
            <a:ext cx="54864" cy="960120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★★★★☆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" y="35204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猫用单方滴剂（室内猫）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入门级替代，教育转化空间大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多宠家庭：「家庭装多支优惠」提升客单价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709160" y="3200400"/>
            <a:ext cx="4160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3200400"/>
            <a:ext cx="54864" cy="96012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0" name="Text 18"/>
          <p:cNvSpPr/>
          <p:nvPr/>
        </p:nvSpPr>
        <p:spPr>
          <a:xfrm>
            <a:off x="4873752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★★★☆☆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35204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犬用口服/咀嚼片（单方）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73752" y="3749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稳定支撑，增速趋缓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高端价格带（&gt;300元/3支）维持溢价形象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4251960"/>
            <a:ext cx="850392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核心结论：猫用滴剂是突破口，犬用超可信是规模支撑，内外同驱是未来5年CAGR最高赛道（20%+）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估算数据基于合理假设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六、渠道策略建议 | Channel Strategy — 医院×电商×O2O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47548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80467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电商平台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6070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 | 20%+ YoY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05740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9768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销售主战场×品牌建设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78308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内容种草（小红书/抖音）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搜索卡位（SEM/SEO）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会员复购体系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多宠家庭精准推送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14600" y="804672"/>
            <a:ext cx="2057400" cy="475488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2" name="Text 10"/>
          <p:cNvSpPr/>
          <p:nvPr/>
        </p:nvSpPr>
        <p:spPr>
          <a:xfrm>
            <a:off x="2606040" y="80467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宠物医院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06040" y="106070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| 5-8% YoY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514600" y="1353312"/>
            <a:ext cx="205740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624328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教育主阵地×首购来源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624328" y="178308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CVTD学术会议赞助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兽医产品培训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幼宠首购合作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数字化驱虫档案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09160" y="804672"/>
            <a:ext cx="2057400" cy="475488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8" name="Text 16"/>
          <p:cNvSpPr/>
          <p:nvPr/>
        </p:nvSpPr>
        <p:spPr>
          <a:xfrm>
            <a:off x="4800600" y="80467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宠物店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106070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 | 持平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1353312"/>
            <a:ext cx="205740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18888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补充渠道×即时购买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18888" y="178308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社区覆盖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即时购买场景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配合O2O配送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903720" y="804672"/>
            <a:ext cx="2057400" cy="47548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24" name="Text 22"/>
          <p:cNvSpPr/>
          <p:nvPr/>
        </p:nvSpPr>
        <p:spPr>
          <a:xfrm>
            <a:off x="6995160" y="80467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O2O平台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95160" y="106070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| 30%+ YoY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903720" y="1353312"/>
            <a:ext cx="205740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013448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即时需求×下沉渗透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3448" y="178308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美团/饿了么接入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30分钟紧急补购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下沉市场主力渠道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20040" y="4005072"/>
            <a:ext cx="8503920" cy="74980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4005072"/>
            <a:ext cx="73152" cy="74980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40416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渠道策略核心框架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42976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教育渠道（兽医）：建立信任和专业背书 → 首购转化  |  转化渠道（电商）：内容种草 + 搜索卡位 → 直接销售  |  复购渠道（电商+O2O）：会员积分 + 数字提醒 + 即时配送 → 用户留存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七、产品与品牌策略建议 | Product &amp; Brand Strategy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6052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4160520" cy="43891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产品组合策略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35024"/>
            <a:ext cx="54864" cy="64008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13716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优先推动「内外同驱」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1792" y="16367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依从性提升30%+，1次顶2次，BI超可信是品类标杆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084832"/>
            <a:ext cx="54864" cy="64008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212140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猫用滴剂为突破口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1792" y="2386584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博来恩猫用滴剂新规格（家庭装）+ 室内猫专属方案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54864" cy="64008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8712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兽医端学术教育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" y="313639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CVTD赞助×产品培训×临床数据支持×数字化工具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584448"/>
            <a:ext cx="54864" cy="64008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" y="362102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消费者复购闭环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792" y="38862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小程序驱虫日历×电商会员×季度复购提醒×多宠家庭装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804672"/>
            <a:ext cx="416052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804672"/>
            <a:ext cx="4160520" cy="438912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2" name="Text 20"/>
          <p:cNvSpPr/>
          <p:nvPr/>
        </p:nvSpPr>
        <p:spPr>
          <a:xfrm>
            <a:off x="4800600" y="804672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定价带布局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1335024"/>
            <a:ext cx="3886200" cy="64008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754880" y="1335024"/>
            <a:ext cx="73152" cy="64008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142646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 &gt;300元/3支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37760" y="16824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维持溢价，赠品替代降价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54880" y="2084832"/>
            <a:ext cx="3886200" cy="64008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754880" y="2084832"/>
            <a:ext cx="73152" cy="640080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2176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中高端 200-300元/3支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37760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限时满减，不直接打折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54880" y="2834640"/>
            <a:ext cx="3886200" cy="64008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754880" y="2834640"/>
            <a:ext cx="73152" cy="64008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33" name="Text 31"/>
          <p:cNvSpPr/>
          <p:nvPr/>
        </p:nvSpPr>
        <p:spPr>
          <a:xfrm>
            <a:off x="4937760" y="29260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中端 100-200元/3支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937760" y="31821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首购优惠+小规格入门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54880" y="3584448"/>
            <a:ext cx="3886200" cy="64008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54880" y="3584448"/>
            <a:ext cx="73152" cy="64008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37" name="Text 35"/>
          <p:cNvSpPr/>
          <p:nvPr/>
        </p:nvSpPr>
        <p:spPr>
          <a:xfrm>
            <a:off x="4937760" y="36758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经济型 &lt;100元/3支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937760" y="39319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暂不开发，严控渠道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八、2025-2030 分阶段路线图 | Phased Roadmap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743200" cy="36758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2743200" cy="621792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50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2025-2026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建立壁垒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517904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猫用内外同驱滴剂新规格上市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兽医继续教育计划启动（CVTD）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抖音/小红书内容营销上线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BI宠物健康小程序驱虫日历上线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幼宠首购合作项目启动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" y="4160520"/>
            <a:ext cx="2743200" cy="32004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KPI: 市场份额+3pct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46120" y="804672"/>
            <a:ext cx="2743200" cy="36758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804672"/>
            <a:ext cx="2743200" cy="621792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850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2027-2028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37560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扩大份额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1517904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下沉市场O2O渠道全面接入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室内猫专属产品线上市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会员年度订阅模式试点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多宠家庭年度装推出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猫用驱虫药成为品类NO.2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46120" y="4160520"/>
            <a:ext cx="2743200" cy="32004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8" name="Text 16"/>
          <p:cNvSpPr/>
          <p:nvPr/>
        </p:nvSpPr>
        <p:spPr>
          <a:xfrm>
            <a:off x="3337560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KPI: 会员复购率50%+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172200" y="804672"/>
            <a:ext cx="2743200" cy="36758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72200" y="804672"/>
            <a:ext cx="2743200" cy="62179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1" name="Text 19"/>
          <p:cNvSpPr/>
          <p:nvPr/>
        </p:nvSpPr>
        <p:spPr>
          <a:xfrm>
            <a:off x="6263640" y="850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2029-2030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63640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生态主导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09360" y="1517904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AI个性化驱虫提醒上线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宠物预防健康全品类扩展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中国市场份额达25%+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建立中国最大宠物预防医疗生态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72200" y="4160520"/>
            <a:ext cx="2743200" cy="32004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KPI: 市场份额25%+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108960" y="2560320"/>
            <a:ext cx="868680" cy="0"/>
          </a:xfrm>
          <a:prstGeom prst="line">
            <a:avLst/>
          </a:prstGeom>
          <a:noFill/>
          <a:ln w="25400">
            <a:solidFill>
              <a:srgbClr val="0831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35040" y="2560320"/>
            <a:ext cx="868680" cy="0"/>
          </a:xfrm>
          <a:prstGeom prst="line">
            <a:avLst/>
          </a:prstGeom>
          <a:noFill/>
          <a:ln w="25400">
            <a:solidFill>
              <a:srgbClr val="0831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九、关键风险与应对 | Key Risks &amp; Mitigation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560320" cy="4572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6" name="Text 4"/>
          <p:cNvSpPr/>
          <p:nvPr/>
        </p:nvSpPr>
        <p:spPr>
          <a:xfrm>
            <a:off x="393192" y="804672"/>
            <a:ext cx="2414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 Risk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880360" y="804672"/>
            <a:ext cx="777240" cy="4572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8" name="Text 6"/>
          <p:cNvSpPr/>
          <p:nvPr/>
        </p:nvSpPr>
        <p:spPr>
          <a:xfrm>
            <a:off x="2953512" y="804672"/>
            <a:ext cx="630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可能性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0" y="804672"/>
            <a:ext cx="685800" cy="4572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0" name="Text 8"/>
          <p:cNvSpPr/>
          <p:nvPr/>
        </p:nvSpPr>
        <p:spPr>
          <a:xfrm>
            <a:off x="3730752" y="804672"/>
            <a:ext cx="539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43400" y="804672"/>
            <a:ext cx="4617720" cy="4572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2" name="Text 10"/>
          <p:cNvSpPr/>
          <p:nvPr/>
        </p:nvSpPr>
        <p:spPr>
          <a:xfrm>
            <a:off x="4416552" y="804672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应对策略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1335024"/>
            <a:ext cx="25603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13350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本土品牌低价抢占下沉市场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80360" y="1335024"/>
            <a:ext cx="7772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71800" y="1335024"/>
            <a:ext cx="594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57600" y="1335024"/>
            <a:ext cx="6858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33502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43400" y="1335024"/>
            <a:ext cx="46177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1335024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暂不跟进价格战，聚焦品质和教育；O2O小规格渗透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0040" y="1901952"/>
            <a:ext cx="256032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19019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消费者价格敏感度上升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880360" y="1901952"/>
            <a:ext cx="77724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1901952"/>
            <a:ext cx="594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0" y="1901952"/>
            <a:ext cx="68580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1901952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43400" y="1901952"/>
            <a:ext cx="461772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34840" y="1901952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推出入门体验装和会员优惠，不牺牲高端品牌形象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20040" y="2468880"/>
            <a:ext cx="25603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24688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兽医渠道话语权下降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880360" y="2468880"/>
            <a:ext cx="7772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2468880"/>
            <a:ext cx="594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657600" y="2468880"/>
            <a:ext cx="6858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49040" y="2468880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343400" y="2468880"/>
            <a:ext cx="46177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34840" y="2468880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强化兽医专业教育价值，同时加大电商私域触达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0040" y="3035808"/>
            <a:ext cx="256032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30358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电商平台流量成本持续上涨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880360" y="3035808"/>
            <a:ext cx="77724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035808"/>
            <a:ext cx="594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0" y="3035808"/>
            <a:ext cx="68580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749040" y="3035808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343400" y="3035808"/>
            <a:ext cx="461772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34840" y="303580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发展私域（微信小程序、会员体系）降低对付费流量依赖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20040" y="3602736"/>
            <a:ext cx="25603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1480" y="360273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新进入者跨界推出驱虫新品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880360" y="3602736"/>
            <a:ext cx="7772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71800" y="3602736"/>
            <a:ext cx="594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657600" y="3602736"/>
            <a:ext cx="6858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49040" y="3602736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343400" y="3602736"/>
            <a:ext cx="46177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34840" y="360273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加快产品迭代，保持技术领先优势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20040" y="4169664"/>
            <a:ext cx="256032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1480" y="416966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猫咪数量增长低于预期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880360" y="4169664"/>
            <a:ext cx="77724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71800" y="4169664"/>
            <a:ext cx="594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657600" y="4169664"/>
            <a:ext cx="68580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749040" y="416966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343400" y="4169664"/>
            <a:ext cx="4617720" cy="53035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34840" y="4169664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可快速切换加大犬用产品推广资源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62" name="Text 60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数据来源：艾媒咨询、前瞻研究院、petMD中国等公开报告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数字化战略机会 | Digital Strategy Opportunities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从一次购买走向年度预防管理 · 从品牌触达到医院复购闭环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274320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34440"/>
            <a:ext cx="2743200" cy="566928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 寄生虫风险地图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Map + Reminder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2468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按城市/季节/犬猫/生活方式分层风险，生成个性化驱虫周期提醒，南方蜱虫季、户外犬、多猫家庭重点教育，提醒后承接医院咨询或电商复购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234440"/>
            <a:ext cx="274320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234440"/>
            <a:ext cx="2743200" cy="56692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兽医KOC内容矩阵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 KOC Content Engine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83280" y="1874520"/>
            <a:ext cx="2468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医生短视频模板与合规话术库，小红书/抖音/视频号场景化科普，竞品对比词与症状词搜索防守，从内容引导到医院问诊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72200" y="1234440"/>
            <a:ext cx="274320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234440"/>
            <a:ext cx="2743200" cy="566928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医院会员工具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CRM + AI Q&amp;A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09360" y="1874520"/>
            <a:ext cx="2468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扫码建档：体重、用药、下次提醒，企业微信自动复购与随访，AI问答设置医疗边界并导流兽医，沉淀合规一方数据资产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4005072"/>
            <a:ext cx="8503920" cy="56692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4005072"/>
            <a:ext cx="73152" cy="5669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核心价值：建立「风险识别—专业教育—医院咨询—电商/私域复购」闭环，让BI从驱虫药品牌升级为宠物预防医学管理入口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USE ONLY  |  勃林格殷格翰中国宠物团队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总结与建议 | Summary &amp; Recommendations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60520" cy="36118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789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竞争格局快照 | Competitive Landscape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3886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硕腾：大宠爱/妙宠爱构成强猫狗驱虫心智，医生教育和慢病布局长期强势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礼蓝：可立奥、索来多项圈、拜宠清覆盖不同剂型与价格带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默沙东：贝卫多以长效省心定位形成清晰差异化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海正：海乐妙、海乐旺等矩阵化推进，国产替代和出海加速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瑞普/普莱柯：以性价比、电商速度和下沉渠道形成持续压力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竞争焦点从单品疗效转向专业信任、渠道效率和复购管理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60520" cy="36118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800600" y="10789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行动建议 | Action Items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481328"/>
            <a:ext cx="41148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48132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66360" y="14813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建立年度驱虫管理心智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166360" y="17099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把超可信/博来恩等从单次购买升级为全生命周期预防方案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2011680"/>
            <a:ext cx="41148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20116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搭建数字化复购闭环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166360" y="22402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风险地图+提醒+AI问答+医院会员工具，沉淀合规一方数据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542032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254203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166360" y="25420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强化犬猫产品组合分工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166360" y="27706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犬端突出高阶内外同驱，猫端强调便利性、安全感和专业推荐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3072384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07238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66360" y="30723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电商搜索与内容防守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66360" y="33009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围绕竞品对比词、场景词、症状词建设合规内容和转化链路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3602736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3602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166360" y="360273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医生KOC共创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66360" y="383133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把兽医教育升级为短视频内容、私域触达和到店咨询线索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63440" y="4133088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413308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166360" y="41330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关注国产替代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66360" y="43616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持续监测海正/瑞普/普莱柯价格、渠道、上新与医院端渗透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65760" y="4681728"/>
            <a:ext cx="8412480" cy="43891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468172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数据截至：2026年5月24日  |  非官方披露数据仅供内部使用  |  INTERNAL USE ONLY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BI宠物竞争者生态 2026</dc:title>
  <dc:subject>PptxGenJS Presentation</dc:subject>
  <dc:creator>BI China Pet Health</dc:creator>
  <cp:lastModifiedBy>BI China Pet Health</cp:lastModifiedBy>
  <cp:revision>1</cp:revision>
  <dcterms:created xsi:type="dcterms:W3CDTF">2026-05-25T10:41:09Z</dcterms:created>
  <dcterms:modified xsi:type="dcterms:W3CDTF">2026-05-25T10:41:09Z</dcterms:modified>
</cp:coreProperties>
</file>