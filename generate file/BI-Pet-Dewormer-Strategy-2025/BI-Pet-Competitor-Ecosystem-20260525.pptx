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Y XU" userId="52f0466bda2ee3ba" providerId="LiveId" clId="{72F62F6C-C739-49DD-8672-8AEC33E2ECBD}"/>
    <pc:docChg chg="undo custSel modSld sldOrd">
      <pc:chgData name="LILY XU" userId="52f0466bda2ee3ba" providerId="LiveId" clId="{72F62F6C-C739-49DD-8672-8AEC33E2ECBD}" dt="2026-05-24T13:29:24.811" v="31"/>
      <pc:docMkLst>
        <pc:docMk/>
      </pc:docMkLst>
      <pc:sldChg chg="modSp mod">
        <pc:chgData name="LILY XU" userId="52f0466bda2ee3ba" providerId="LiveId" clId="{72F62F6C-C739-49DD-8672-8AEC33E2ECBD}" dt="2026-05-24T13:22:02.961" v="1" actId="20577"/>
        <pc:sldMkLst>
          <pc:docMk/>
          <pc:sldMk cId="0" sldId="257"/>
        </pc:sldMkLst>
        <pc:spChg chg="mod">
          <ac:chgData name="LILY XU" userId="52f0466bda2ee3ba" providerId="LiveId" clId="{72F62F6C-C739-49DD-8672-8AEC33E2ECBD}" dt="2026-05-24T13:22:02.961" v="1" actId="20577"/>
          <ac:spMkLst>
            <pc:docMk/>
            <pc:sldMk cId="0" sldId="257"/>
            <ac:spMk id="4" creationId="{00000000-0000-0000-0000-000000000000}"/>
          </ac:spMkLst>
        </pc:spChg>
      </pc:sldChg>
      <pc:sldChg chg="ord">
        <pc:chgData name="LILY XU" userId="52f0466bda2ee3ba" providerId="LiveId" clId="{72F62F6C-C739-49DD-8672-8AEC33E2ECBD}" dt="2026-05-24T13:29:24.811" v="31"/>
        <pc:sldMkLst>
          <pc:docMk/>
          <pc:sldMk cId="0" sldId="258"/>
        </pc:sldMkLst>
      </pc:sldChg>
      <pc:sldChg chg="delSp modSp mod">
        <pc:chgData name="LILY XU" userId="52f0466bda2ee3ba" providerId="LiveId" clId="{72F62F6C-C739-49DD-8672-8AEC33E2ECBD}" dt="2026-05-24T13:26:50.382" v="29" actId="20577"/>
        <pc:sldMkLst>
          <pc:docMk/>
          <pc:sldMk cId="0" sldId="268"/>
        </pc:sldMkLst>
        <pc:spChg chg="mod">
          <ac:chgData name="LILY XU" userId="52f0466bda2ee3ba" providerId="LiveId" clId="{72F62F6C-C739-49DD-8672-8AEC33E2ECBD}" dt="2026-05-24T13:26:03" v="25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LILY XU" userId="52f0466bda2ee3ba" providerId="LiveId" clId="{72F62F6C-C739-49DD-8672-8AEC33E2ECBD}" dt="2026-05-24T13:24:47.389" v="16" actId="207"/>
          <ac:spMkLst>
            <pc:docMk/>
            <pc:sldMk cId="0" sldId="268"/>
            <ac:spMk id="17" creationId="{00000000-0000-0000-0000-000000000000}"/>
          </ac:spMkLst>
        </pc:spChg>
        <pc:spChg chg="del">
          <ac:chgData name="LILY XU" userId="52f0466bda2ee3ba" providerId="LiveId" clId="{72F62F6C-C739-49DD-8672-8AEC33E2ECBD}" dt="2026-05-24T13:25:00.343" v="17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LILY XU" userId="52f0466bda2ee3ba" providerId="LiveId" clId="{72F62F6C-C739-49DD-8672-8AEC33E2ECBD}" dt="2026-05-24T13:25:01.821" v="18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LILY XU" userId="52f0466bda2ee3ba" providerId="LiveId" clId="{72F62F6C-C739-49DD-8672-8AEC33E2ECBD}" dt="2026-05-24T13:23:09.511" v="3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9.718" v="9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2.889" v="5" actId="478"/>
          <ac:spMkLst>
            <pc:docMk/>
            <pc:sldMk cId="0" sldId="268"/>
            <ac:spMk id="33" creationId="{00000000-0000-0000-0000-000000000000}"/>
          </ac:spMkLst>
        </pc:spChg>
        <pc:spChg chg="del mod">
          <ac:chgData name="LILY XU" userId="52f0466bda2ee3ba" providerId="LiveId" clId="{72F62F6C-C739-49DD-8672-8AEC33E2ECBD}" dt="2026-05-24T13:23:18.497" v="8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1.536" v="4" actId="478"/>
          <ac:spMkLst>
            <pc:docMk/>
            <pc:sldMk cId="0" sldId="268"/>
            <ac:spMk id="35" creationId="{00000000-0000-0000-0000-000000000000}"/>
          </ac:spMkLst>
        </pc:spChg>
        <pc:spChg chg="del mod">
          <ac:chgData name="LILY XU" userId="52f0466bda2ee3ba" providerId="LiveId" clId="{72F62F6C-C739-49DD-8672-8AEC33E2ECBD}" dt="2026-05-24T13:23:16.987" v="7" actId="478"/>
          <ac:spMkLst>
            <pc:docMk/>
            <pc:sldMk cId="0" sldId="268"/>
            <ac:spMk id="36" creationId="{00000000-0000-0000-0000-000000000000}"/>
          </ac:spMkLst>
        </pc:spChg>
        <pc:spChg chg="mod">
          <ac:chgData name="LILY XU" userId="52f0466bda2ee3ba" providerId="LiveId" clId="{72F62F6C-C739-49DD-8672-8AEC33E2ECBD}" dt="2026-05-24T13:25:27.383" v="19" actId="20577"/>
          <ac:spMkLst>
            <pc:docMk/>
            <pc:sldMk cId="0" sldId="268"/>
            <ac:spMk id="37" creationId="{00000000-0000-0000-0000-000000000000}"/>
          </ac:spMkLst>
        </pc:spChg>
        <pc:spChg chg="mod">
          <ac:chgData name="LILY XU" userId="52f0466bda2ee3ba" providerId="LiveId" clId="{72F62F6C-C739-49DD-8672-8AEC33E2ECBD}" dt="2026-05-24T13:25:50.477" v="24" actId="207"/>
          <ac:spMkLst>
            <pc:docMk/>
            <pc:sldMk cId="0" sldId="268"/>
            <ac:spMk id="38" creationId="{00000000-0000-0000-0000-000000000000}"/>
          </ac:spMkLst>
        </pc:spChg>
        <pc:spChg chg="mod">
          <ac:chgData name="LILY XU" userId="52f0466bda2ee3ba" providerId="LiveId" clId="{72F62F6C-C739-49DD-8672-8AEC33E2ECBD}" dt="2026-05-24T13:26:50.382" v="29" actId="20577"/>
          <ac:spMkLst>
            <pc:docMk/>
            <pc:sldMk cId="0" sldId="268"/>
            <ac:spMk id="40" creationId="{00000000-0000-0000-0000-000000000000}"/>
          </ac:spMkLst>
        </pc:spChg>
        <pc:spChg chg="mod">
          <ac:chgData name="LILY XU" userId="52f0466bda2ee3ba" providerId="LiveId" clId="{72F62F6C-C739-49DD-8672-8AEC33E2ECBD}" dt="2026-05-24T13:23:38.521" v="13" actId="1076"/>
          <ac:spMkLst>
            <pc:docMk/>
            <pc:sldMk cId="0" sldId="268"/>
            <ac:spMk id="41" creationId="{00000000-0000-0000-0000-000000000000}"/>
          </ac:spMkLst>
        </pc:spChg>
        <pc:spChg chg="mod">
          <ac:chgData name="LILY XU" userId="52f0466bda2ee3ba" providerId="LiveId" clId="{72F62F6C-C739-49DD-8672-8AEC33E2ECBD}" dt="2026-05-24T13:23:42.982" v="14" actId="1076"/>
          <ac:spMkLst>
            <pc:docMk/>
            <pc:sldMk cId="0" sldId="26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6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月竞品池确认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国产替代深化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渠道与数字化机会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BI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中国宠物驱虫竞争格局 </a:t>
            </a:r>
            <a:r>
              <a:rPr lang="en-US" altLang="zh-CN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Q1| China Pet Dewormer Competitive Snapshot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reported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</a:t>
            </a:r>
            <a:r>
              <a:rPr lang="en-US" altLang="zh-CN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/ +10% organic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▼美国伴侣动物产品销售下降 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11%</a:t>
            </a:r>
          </a:p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高端宠物护理承压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0574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822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316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13.71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258568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23042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Quattro</a:t>
            </a: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放量</a:t>
            </a:r>
            <a:endParaRPr lang="en-US" altLang="zh-CN" sz="850" dirty="0">
              <a:solidFill>
                <a:srgbClr val="EE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（未在中国销售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净负债约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33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亿美元，杠杆仍高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818388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818388"/>
            <a:ext cx="2057400" cy="457200"/>
          </a:xfrm>
          <a:prstGeom prst="rect">
            <a:avLst/>
          </a:prstGeom>
          <a:solidFill>
            <a:srgbClr val="1F7F7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63640" y="8183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3121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16596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19339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72200" y="2253996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63640" y="22997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28483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</a:t>
            </a:r>
            <a:r>
              <a:rPr lang="en-US" sz="850" dirty="0" err="1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宠物线相对平淡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消费分层与价格敏感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宠主比价、复购和大促行为增强，高端外资品牌需要用专业价值抵御价格战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创新与便利性共同驱动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长效、省心、内外同驱、猫友好剂型成为差异化表达核心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中国市场进入运营战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医院专业背书、电商搜索卡位、私域复购提醒需要形成闭环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/ Elanco / Merck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官方财报；公开资料与市场观察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 </a:t>
            </a:r>
            <a:r>
              <a:rPr lang="en-US" altLang="zh-CN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Parasiticide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FEE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3152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事件：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下调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利润预期；宠主价格敏感、兽医就诊减少，高端宠物护理承压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96.8-99.6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收入指引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Guidance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Companion Animal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驱虫药产品线 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Parasiticide 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赛拉菌素；体内外寄生虫及心丝虫预防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01568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 Plus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685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沙罗拉纳；跳蚤、蜱虫、耳螨等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4023360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Shape 36"/>
          <p:cNvSpPr/>
          <p:nvPr/>
        </p:nvSpPr>
        <p:spPr>
          <a:xfrm>
            <a:off x="4709160" y="2286000"/>
            <a:ext cx="40233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302939"/>
            <a:ext cx="3840480" cy="188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利润预警：宠主削减开支、减少就诊，高端宠物护理承压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</a:t>
            </a:r>
            <a:r>
              <a:rPr lang="en-US" altLang="zh-CN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妙宠爱在中国核心是犬猫滴剂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猫端仍以滴剂便利性、安全感和兽医推荐为关键竞争点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352544"/>
            <a:ext cx="8412480" cy="438912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" y="43799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洞察：硕腾在中国驱虫核心资产是大宠爱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妙宠爱的犬猫滴剂心智。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犬端应突出超可信口服内外同驱与高阶预防；猫端重点对标滴剂便利性与猫主接受度。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官方财报、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中国大宠爱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妙宠爱公开资料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677770"/>
              </p:ext>
            </p:extLst>
          </p:nvPr>
        </p:nvGraphicFramePr>
        <p:xfrm>
          <a:off x="1273469" y="804672"/>
          <a:ext cx="5623560" cy="33558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索来多项圈（礼蓝）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拜宠清（礼蓝）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倍宠恩（普莱柯）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· MSD · Domestic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国产品牌：海正 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 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海正：海乐妙、海乐旺、莫爱佳、喜倍安、赛乐滴形成驱虫矩阵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普莱柯：倍宠恩进入犬用驱虫滴剂市场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瑞普生物：以外驱滴剂和性价比切入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国产品牌优势：价格、渠道速度、本土供应链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主要短板：兽医专业背书与高端品牌信任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Channel Strategy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：外资品牌守住宠物医院专业制高点，同时必须补齐电商搜索、内容种草、私域复购提醒和医生端数字工具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默沙东公开资料、国产品牌公开信息、用户确认竞品池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535424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88620" y="453869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  </a:t>
            </a:r>
            <a:r>
              <a:rPr lang="en-US" altLang="zh-CN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zh-CN" altLang="en-US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</a:t>
            </a:r>
            <a:r>
              <a:rPr lang="en-US" altLang="zh-CN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倍宠恩切入犬用驱虫市场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数据来源：前瞻网、海正动保官方信息、普莱柯电商信息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宠主决策线上化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搜索、比价、内容种草和复购提醒影响购买路径；品牌需要从单次交易转向年度健康管理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渠道竞争进入闭环运营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宠物医院负责信任建立，天猫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抖音负责转化，企业微信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小程序负责复购与数据沉淀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数字化成为新差异点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寄生虫风险地图、驱虫提醒、医生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内容、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问答与医院会员工具可形成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数字护城河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行动建议：以超可信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福来恩建立高阶预防心智 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用医生端复购工具连接医院 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用风险地图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/AI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私域提醒形成数字化闭环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数字化战略机会 </a:t>
            </a:r>
            <a:r>
              <a:rPr lang="en-US" altLang="zh-CN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Strategy Opportunities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从一次购买走向年度预防管理 </a:t>
            </a:r>
            <a:r>
              <a:rPr lang="en-US" altLang="zh-CN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从品牌触达到医院复购闭环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743200" cy="91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寄生虫风险地图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 + Reminder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按城市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生活方式分层风险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生成个性化驱虫周期提醒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南方蜱虫季、户外犬、多猫家庭重点教育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提醒后承接医院咨询或电商复购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43200" cy="9144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内容矩阵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KOC Content Engine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医生短视频模板与合规话术库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视频号场景化科普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竞品对比词与症状词搜索防守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从内容引导到医院问诊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CRM + AI Q&amp;A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扫码建档：体重、用药、下次提醒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企业微信自动复购与随访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问答设置医疗边界并导流兽医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沉淀合规一方数据资产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0831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370832"/>
            <a:ext cx="73152" cy="5943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708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核心价值：建立「风险识别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专业教育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医院咨询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私域复购」闭环，让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从驱虫药品牌升级为宠物预防医学管理入口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勃林格殷格翰中国宠物团队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硕腾：大宠爱</a:t>
            </a:r>
            <a:r>
              <a:rPr lang="en-US" altLang="zh-CN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妙宠爱构成强猫狗驱虫心智，医生教育和慢病布局长期强势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礼蓝：可立奥、索来多项圈、拜宠清覆盖不同剂型与价格带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默沙东：贝卫多以长效省心定位形成清晰差异化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海正：海乐妙、海乐旺等矩阵化推进，国产替代和出海加速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普莱柯：以性价比、电商速度和下沉渠道形成持续压力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竞争焦点从单品疗效转向专业信任、渠道效率和复购管理</a:t>
            </a:r>
            <a:endParaRPr lang="en-US" sz="950" dirty="0">
              <a:solidFill>
                <a:srgbClr val="222D2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建立年度驱虫管理心智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把超可信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博来恩等从单次购买升级为全生命周期预防方案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搭建数字化复购闭环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风险地图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+AI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医院会员工具，沉淀合规一方数据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强化犬猫产品组合分工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犬端突出高阶内外同驱，猫端强调便利性、安全感和专业推荐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电商搜索与内容防守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围绕竞品对比词、场景词、症状词建设合规内容和转化链路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</a:t>
            </a:r>
            <a:r>
              <a:rPr 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共创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把兽医教育升级为短视频内容、私域触达和到店咨询线索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关注国产替代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持续监测海正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普莱柯价格、渠道、上新与医院端渗透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非官方披露数据仅供内部使用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2359</Words>
  <Application>Microsoft Office PowerPoint</Application>
  <PresentationFormat>全屏显示(16:9)</PresentationFormat>
  <Paragraphs>367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LILY XU</cp:lastModifiedBy>
  <cp:revision>10</cp:revision>
  <dcterms:created xsi:type="dcterms:W3CDTF">2026-05-13T10:28:20Z</dcterms:created>
  <dcterms:modified xsi:type="dcterms:W3CDTF">2026-05-25T10:35:22Z</dcterms:modified>
</cp:coreProperties>
</file>