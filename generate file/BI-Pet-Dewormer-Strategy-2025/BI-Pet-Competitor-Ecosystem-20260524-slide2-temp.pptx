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7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9" r:id="rId13"/>
    <p:sldId id="267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7F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2" d="100"/>
          <a:sy n="212" d="100"/>
        </p:scale>
        <p:origin x="13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LY XU" userId="52f0466bda2ee3ba" providerId="LiveId" clId="{72F62F6C-C739-49DD-8672-8AEC33E2ECBD}"/>
    <pc:docChg chg="undo custSel modSld sldOrd">
      <pc:chgData name="LILY XU" userId="52f0466bda2ee3ba" providerId="LiveId" clId="{72F62F6C-C739-49DD-8672-8AEC33E2ECBD}" dt="2026-05-24T13:29:24.811" v="31"/>
      <pc:docMkLst>
        <pc:docMk/>
      </pc:docMkLst>
      <pc:sldChg chg="modSp mod">
        <pc:chgData name="LILY XU" userId="52f0466bda2ee3ba" providerId="LiveId" clId="{72F62F6C-C739-49DD-8672-8AEC33E2ECBD}" dt="2026-05-24T13:22:02.961" v="1" actId="20577"/>
        <pc:sldMkLst>
          <pc:docMk/>
          <pc:sldMk cId="0" sldId="257"/>
        </pc:sldMkLst>
        <pc:spChg chg="mod">
          <ac:chgData name="LILY XU" userId="52f0466bda2ee3ba" providerId="LiveId" clId="{72F62F6C-C739-49DD-8672-8AEC33E2ECBD}" dt="2026-05-24T13:22:02.961" v="1" actId="20577"/>
          <ac:spMkLst>
            <pc:docMk/>
            <pc:sldMk cId="0" sldId="257"/>
            <ac:spMk id="4" creationId="{00000000-0000-0000-0000-000000000000}"/>
          </ac:spMkLst>
        </pc:spChg>
      </pc:sldChg>
      <pc:sldChg chg="ord">
        <pc:chgData name="LILY XU" userId="52f0466bda2ee3ba" providerId="LiveId" clId="{72F62F6C-C739-49DD-8672-8AEC33E2ECBD}" dt="2026-05-24T13:29:24.811" v="31"/>
        <pc:sldMkLst>
          <pc:docMk/>
          <pc:sldMk cId="0" sldId="258"/>
        </pc:sldMkLst>
      </pc:sldChg>
      <pc:sldChg chg="delSp modSp mod">
        <pc:chgData name="LILY XU" userId="52f0466bda2ee3ba" providerId="LiveId" clId="{72F62F6C-C739-49DD-8672-8AEC33E2ECBD}" dt="2026-05-24T13:26:50.382" v="29" actId="20577"/>
        <pc:sldMkLst>
          <pc:docMk/>
          <pc:sldMk cId="0" sldId="268"/>
        </pc:sldMkLst>
        <pc:spChg chg="mod">
          <ac:chgData name="LILY XU" userId="52f0466bda2ee3ba" providerId="LiveId" clId="{72F62F6C-C739-49DD-8672-8AEC33E2ECBD}" dt="2026-05-24T13:26:03" v="25" actId="207"/>
          <ac:spMkLst>
            <pc:docMk/>
            <pc:sldMk cId="0" sldId="268"/>
            <ac:spMk id="7" creationId="{00000000-0000-0000-0000-000000000000}"/>
          </ac:spMkLst>
        </pc:spChg>
        <pc:spChg chg="mod">
          <ac:chgData name="LILY XU" userId="52f0466bda2ee3ba" providerId="LiveId" clId="{72F62F6C-C739-49DD-8672-8AEC33E2ECBD}" dt="2026-05-24T13:24:47.389" v="16" actId="207"/>
          <ac:spMkLst>
            <pc:docMk/>
            <pc:sldMk cId="0" sldId="268"/>
            <ac:spMk id="17" creationId="{00000000-0000-0000-0000-000000000000}"/>
          </ac:spMkLst>
        </pc:spChg>
        <pc:spChg chg="del">
          <ac:chgData name="LILY XU" userId="52f0466bda2ee3ba" providerId="LiveId" clId="{72F62F6C-C739-49DD-8672-8AEC33E2ECBD}" dt="2026-05-24T13:25:00.343" v="17" actId="478"/>
          <ac:spMkLst>
            <pc:docMk/>
            <pc:sldMk cId="0" sldId="268"/>
            <ac:spMk id="24" creationId="{00000000-0000-0000-0000-000000000000}"/>
          </ac:spMkLst>
        </pc:spChg>
        <pc:spChg chg="del">
          <ac:chgData name="LILY XU" userId="52f0466bda2ee3ba" providerId="LiveId" clId="{72F62F6C-C739-49DD-8672-8AEC33E2ECBD}" dt="2026-05-24T13:25:01.821" v="18" actId="478"/>
          <ac:spMkLst>
            <pc:docMk/>
            <pc:sldMk cId="0" sldId="268"/>
            <ac:spMk id="30" creationId="{00000000-0000-0000-0000-000000000000}"/>
          </ac:spMkLst>
        </pc:spChg>
        <pc:spChg chg="del">
          <ac:chgData name="LILY XU" userId="52f0466bda2ee3ba" providerId="LiveId" clId="{72F62F6C-C739-49DD-8672-8AEC33E2ECBD}" dt="2026-05-24T13:23:09.511" v="3" actId="478"/>
          <ac:spMkLst>
            <pc:docMk/>
            <pc:sldMk cId="0" sldId="268"/>
            <ac:spMk id="31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9.718" v="9" actId="478"/>
          <ac:spMkLst>
            <pc:docMk/>
            <pc:sldMk cId="0" sldId="268"/>
            <ac:spMk id="32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2.889" v="5" actId="478"/>
          <ac:spMkLst>
            <pc:docMk/>
            <pc:sldMk cId="0" sldId="268"/>
            <ac:spMk id="33" creationId="{00000000-0000-0000-0000-000000000000}"/>
          </ac:spMkLst>
        </pc:spChg>
        <pc:spChg chg="del mod">
          <ac:chgData name="LILY XU" userId="52f0466bda2ee3ba" providerId="LiveId" clId="{72F62F6C-C739-49DD-8672-8AEC33E2ECBD}" dt="2026-05-24T13:23:18.497" v="8" actId="478"/>
          <ac:spMkLst>
            <pc:docMk/>
            <pc:sldMk cId="0" sldId="268"/>
            <ac:spMk id="34" creationId="{00000000-0000-0000-0000-000000000000}"/>
          </ac:spMkLst>
        </pc:spChg>
        <pc:spChg chg="del">
          <ac:chgData name="LILY XU" userId="52f0466bda2ee3ba" providerId="LiveId" clId="{72F62F6C-C739-49DD-8672-8AEC33E2ECBD}" dt="2026-05-24T13:23:11.536" v="4" actId="478"/>
          <ac:spMkLst>
            <pc:docMk/>
            <pc:sldMk cId="0" sldId="268"/>
            <ac:spMk id="35" creationId="{00000000-0000-0000-0000-000000000000}"/>
          </ac:spMkLst>
        </pc:spChg>
        <pc:spChg chg="del mod">
          <ac:chgData name="LILY XU" userId="52f0466bda2ee3ba" providerId="LiveId" clId="{72F62F6C-C739-49DD-8672-8AEC33E2ECBD}" dt="2026-05-24T13:23:16.987" v="7" actId="478"/>
          <ac:spMkLst>
            <pc:docMk/>
            <pc:sldMk cId="0" sldId="268"/>
            <ac:spMk id="36" creationId="{00000000-0000-0000-0000-000000000000}"/>
          </ac:spMkLst>
        </pc:spChg>
        <pc:spChg chg="mod">
          <ac:chgData name="LILY XU" userId="52f0466bda2ee3ba" providerId="LiveId" clId="{72F62F6C-C739-49DD-8672-8AEC33E2ECBD}" dt="2026-05-24T13:25:27.383" v="19" actId="20577"/>
          <ac:spMkLst>
            <pc:docMk/>
            <pc:sldMk cId="0" sldId="268"/>
            <ac:spMk id="37" creationId="{00000000-0000-0000-0000-000000000000}"/>
          </ac:spMkLst>
        </pc:spChg>
        <pc:spChg chg="mod">
          <ac:chgData name="LILY XU" userId="52f0466bda2ee3ba" providerId="LiveId" clId="{72F62F6C-C739-49DD-8672-8AEC33E2ECBD}" dt="2026-05-24T13:25:50.477" v="24" actId="207"/>
          <ac:spMkLst>
            <pc:docMk/>
            <pc:sldMk cId="0" sldId="268"/>
            <ac:spMk id="38" creationId="{00000000-0000-0000-0000-000000000000}"/>
          </ac:spMkLst>
        </pc:spChg>
        <pc:spChg chg="mod">
          <ac:chgData name="LILY XU" userId="52f0466bda2ee3ba" providerId="LiveId" clId="{72F62F6C-C739-49DD-8672-8AEC33E2ECBD}" dt="2026-05-24T13:26:50.382" v="29" actId="20577"/>
          <ac:spMkLst>
            <pc:docMk/>
            <pc:sldMk cId="0" sldId="268"/>
            <ac:spMk id="40" creationId="{00000000-0000-0000-0000-000000000000}"/>
          </ac:spMkLst>
        </pc:spChg>
        <pc:spChg chg="mod">
          <ac:chgData name="LILY XU" userId="52f0466bda2ee3ba" providerId="LiveId" clId="{72F62F6C-C739-49DD-8672-8AEC33E2ECBD}" dt="2026-05-24T13:23:38.521" v="13" actId="1076"/>
          <ac:spMkLst>
            <pc:docMk/>
            <pc:sldMk cId="0" sldId="268"/>
            <ac:spMk id="41" creationId="{00000000-0000-0000-0000-000000000000}"/>
          </ac:spMkLst>
        </pc:spChg>
        <pc:spChg chg="mod">
          <ac:chgData name="LILY XU" userId="52f0466bda2ee3ba" providerId="LiveId" clId="{72F62F6C-C739-49DD-8672-8AEC33E2ECBD}" dt="2026-05-24T13:23:42.982" v="14" actId="1076"/>
          <ac:spMkLst>
            <pc:docMk/>
            <pc:sldMk cId="0" sldId="268"/>
            <ac:spMk id="4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867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宠物竞争者生态 2026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Boehringer Ingelheim Pet Competitor Ecosystem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2788920"/>
            <a:ext cx="3200400" cy="54864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市场趋势 · 竞品动态 · BI对策 · 行业洞察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最新情报：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月竞品池确认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国产替代深化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渠道与数字化机会 </a:t>
            </a:r>
            <a:r>
              <a:rPr lang="en-US" altLang="zh-CN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BI</a:t>
            </a:r>
            <a:r>
              <a:rPr lang="zh-CN" altLang="en-US" sz="110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数据截至：2026年5月13日  |  非官方披露数据仅供内部使用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solidFill>
            <a:srgbClr val="00E47C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132320" y="42519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China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Health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市场概览 | Market Overview — 猫狗增长趋势 &amp; 核心数据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3,100+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China Pet Market Size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1460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265176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840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65176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5176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宠物医疗消费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Medical Consumption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0916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70916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4632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84632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亿元 CNY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宠物药品市场规模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Market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03720" y="804672"/>
            <a:ext cx="20574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6903720" y="804672"/>
            <a:ext cx="54864" cy="123444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040880" y="8778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7040880" y="1298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15087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宠物药品市场增速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 Pharma CAGR 2026-31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320040" y="2194560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572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猫咪市场 | Cat Market — 最大增量来源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猫数量7,200万只，增速CAGR ~8%，已超越狗成为最大宠物品类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室内猫比例&gt;70%，"不出门不驱虫"误区→最大认知缺口，教育空间大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国产猫三联疫苗突破：海正「海妙哆」填补国产高端空白，2025年2月上市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猫用滴剂最优剂型（优于口服），猫咪喂药难→滴剂依从性更高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BI猫用：NexGard COMBO（首个且唯一获批治疗绦虫），博来恩（猫用）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2194560"/>
            <a:ext cx="416052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663440" y="2194560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800600" y="21945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狗狗市场 | Dog Market — 高价值处方药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00600" y="2679192"/>
            <a:ext cx="38862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狗数量5,800万只，增速CAGR ~3%，整体消费能力高于猫（年消费4,000-6,000元）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户外暴露场景多，驱虫频次需求更高（蜱虫、心丝虫高发区）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超可信中国率先获批治疗犬疥螨、蠕形螨（异恶唑啉类）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宠物医院+电商双渠道布局深化，兽医推荐影响力大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BI产品：超可信、福来恩、福味恩、尼可信、犬心保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数据来源：艾媒咨询、前瞻网、中国畜牧业协会宠物产业分会、派读宠物行业大数据平台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中国宠物驱虫竞争格局 </a:t>
            </a:r>
            <a:r>
              <a:rPr lang="en-US" altLang="zh-CN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Q1| China Pet Dewormer Competitive Snapshot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2057400" cy="45720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Text 5"/>
          <p:cNvSpPr/>
          <p:nvPr/>
        </p:nvSpPr>
        <p:spPr>
          <a:xfrm>
            <a:off x="411480" y="804672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 Zoetis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reported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0040" y="2240280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11480" y="22860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国际</a:t>
            </a:r>
            <a:r>
              <a:rPr lang="en-US" altLang="zh-CN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/ +10% organic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▼美国伴侣动物产品销售下降 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11%</a:t>
            </a:r>
          </a:p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高端宠物护理承压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246120" y="822960"/>
            <a:ext cx="2057400" cy="4572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337560" y="82296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1316736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13.71</a:t>
            </a:r>
            <a:r>
              <a:rPr lang="zh-CN" altLang="en-US" sz="18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1664208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37560" y="193852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46120" y="2258568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3337560" y="230428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850" dirty="0" err="1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</a:t>
            </a: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Quattro</a:t>
            </a: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放量</a:t>
            </a:r>
            <a:endParaRPr lang="en-US" altLang="zh-CN" sz="850" dirty="0">
              <a:solidFill>
                <a:srgbClr val="EE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buNone/>
            </a:pPr>
            <a:r>
              <a:rPr lang="zh-CN" alt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（未在中国销售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）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37560" y="285292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净负债约</a:t>
            </a:r>
            <a:r>
              <a:rPr lang="en-US" altLang="zh-CN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33</a:t>
            </a:r>
            <a:r>
              <a:rPr lang="zh-CN" alt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亿美元，杠杆仍高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172200" y="818388"/>
            <a:ext cx="2057400" cy="28346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172200" y="818388"/>
            <a:ext cx="2057400" cy="457200"/>
          </a:xfrm>
          <a:prstGeom prst="rect">
            <a:avLst/>
          </a:prstGeom>
          <a:solidFill>
            <a:srgbClr val="1F7F7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263640" y="81838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263640" y="1312164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18亿美元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263640" y="1659636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+13%</a:t>
            </a:r>
            <a:endParaRPr lang="en-US" sz="1300" dirty="0">
              <a:solidFill>
                <a:srgbClr val="EE0000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63640" y="1933956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172200" y="2253996"/>
            <a:ext cx="2057400" cy="9144"/>
          </a:xfrm>
          <a:prstGeom prst="rect">
            <a:avLst/>
          </a:prstGeom>
          <a:solidFill>
            <a:srgbClr val="DDDDD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6263640" y="229971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E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多元化组合稳健</a:t>
            </a:r>
            <a:endParaRPr lang="en-US" sz="850" dirty="0">
              <a:solidFill>
                <a:srgbClr val="EE0000"/>
              </a:solidFill>
            </a:endParaRPr>
          </a:p>
        </p:txBody>
      </p:sp>
      <p:sp>
        <p:nvSpPr>
          <p:cNvPr id="31" name="Text 29"/>
          <p:cNvSpPr/>
          <p:nvPr/>
        </p:nvSpPr>
        <p:spPr>
          <a:xfrm>
            <a:off x="6263640" y="284835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▼ </a:t>
            </a:r>
            <a:r>
              <a:rPr lang="en-US" sz="850" dirty="0" err="1">
                <a:solidFill>
                  <a:srgbClr val="008800"/>
                </a:solidFill>
                <a:latin typeface="Arial" pitchFamily="34" charset="0"/>
                <a:cs typeface="Arial" pitchFamily="34" charset="-120"/>
              </a:rPr>
              <a:t>宠物线相对平淡</a:t>
            </a:r>
            <a:endParaRPr lang="en-US" sz="850" dirty="0">
              <a:solidFill>
                <a:srgbClr val="008800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2004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32004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772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消费分层与价格敏感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7724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宠主比价、复购和大促行为增强，高端外资品牌需要用专业价值抵御价格战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24612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24612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370332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创新与便利性共同驱动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70332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长效、省心、内外同驱、猫友好剂型成为差异化表达核心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172200" y="3749040"/>
            <a:ext cx="2743200" cy="9144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6172200" y="3749040"/>
            <a:ext cx="365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62940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中国市场进入运营战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629400" y="409651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医院专业背书、电商搜索卡位、私域复购提醒需要形成闭环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/ Elanco / Merck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官方财报；公开资料与市场观察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竞品分析：硕腾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 </a:t>
            </a:r>
            <a:r>
              <a:rPr lang="en-US" altLang="zh-CN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6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Parasiticide Portfolio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FEEEE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804672"/>
            <a:ext cx="73152" cy="438912"/>
          </a:xfrm>
          <a:prstGeom prst="rect">
            <a:avLst/>
          </a:prstGeom>
          <a:solidFill>
            <a:srgbClr val="CC0000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046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W21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事件：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下调</a:t>
            </a:r>
            <a:r>
              <a:rPr lang="en-US" altLang="zh-CN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 dirty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利润预期；宠主价格敏感、兽医就诊减少，高端宠物护理承压</a:t>
            </a:r>
            <a:endParaRPr lang="en-US" sz="1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96.8-99.6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0292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收入指引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Guidance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22.62</a:t>
            </a:r>
            <a:r>
              <a:rPr lang="zh-CN" alt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亿美元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33756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2026</a:t>
            </a: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35040" y="1371600"/>
            <a:ext cx="2651760" cy="7772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0" y="140817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72200" y="17373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 </a:t>
            </a:r>
            <a:r>
              <a:rPr lang="en-US" altLang="zh-CN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en-US" sz="9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Companion Animal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286000"/>
            <a:ext cx="4023360" cy="38404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</a:t>
            </a:r>
            <a:r>
              <a:rPr lang="zh-CN" alt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驱虫药产品线 </a:t>
            </a:r>
            <a:r>
              <a:rPr lang="en-US" altLang="zh-CN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Parasiticide Products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743200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78892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31720" y="280720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02920" y="302666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赛拉菌素；体内外寄生虫及心丝虫预防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3401568"/>
            <a:ext cx="4023360" cy="594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401568"/>
            <a:ext cx="54864" cy="594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4472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 </a:t>
            </a:r>
            <a:r>
              <a:rPr lang="en-US" sz="11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Revolution Plus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31720" y="346557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外用滴剂 </a:t>
            </a:r>
            <a:r>
              <a:rPr lang="en-US" altLang="zh-CN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zh-CN" alt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内外驱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02920" y="368503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赛拉菌素</a:t>
            </a:r>
            <a:r>
              <a:rPr lang="en-US" altLang="zh-CN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沙罗拉纳；跳蚤、蜱虫、耳螨等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709160" y="2286000"/>
            <a:ext cx="4023360" cy="195681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38" name="Shape 36"/>
          <p:cNvSpPr/>
          <p:nvPr/>
        </p:nvSpPr>
        <p:spPr>
          <a:xfrm>
            <a:off x="4709160" y="2286000"/>
            <a:ext cx="4023360" cy="384048"/>
          </a:xfrm>
          <a:prstGeom prst="rect">
            <a:avLst/>
          </a:prstGeom>
          <a:solidFill>
            <a:schemeClr val="accent2">
              <a:lumMod val="75000"/>
            </a:schemeClr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228600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驱虫药市场挑战 | Dewormer Market Challenges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2302939"/>
            <a:ext cx="3840480" cy="18850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利润预警：宠主削减开支、减少就诊，高端宠物护理承压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中国驱虫药市场国产品牌性价比优势持续蚕食外资份额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大宠爱</a:t>
            </a:r>
            <a:r>
              <a:rPr lang="en-US" altLang="zh-CN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妙宠爱在中国核心是犬猫滴剂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猫端仍以滴剂便利性、安全感和兽医推荐为关键竞争点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352544"/>
            <a:ext cx="8412480" cy="438912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20624" y="437997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洞察：硕腾在中国驱虫核心资产是大宠爱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妙宠爱的犬猫滴剂心智。</a:t>
            </a:r>
            <a:r>
              <a:rPr lang="en-US" altLang="zh-CN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犬端应突出超可信口服内外同驱与高阶预防；猫端重点对标滴剂便利性与猫主接受度。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4" name="Text 4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Q1 2026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官方财报、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中国大宠爱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妙宠爱公开资料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宠物药品清单 — 非处方药 | BIAH Pet Product List (Non-Rx)</a:t>
            </a:r>
            <a:endParaRPr lang="en-US" sz="1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083320"/>
              </p:ext>
            </p:extLst>
          </p:nvPr>
        </p:nvGraphicFramePr>
        <p:xfrm>
          <a:off x="274320" y="804672"/>
          <a:ext cx="8595360" cy="3465576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药品类别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药品名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客户及疗效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竞争对手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altLang="zh-CN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</a:t>
                      </a:r>
                      <a:r>
                        <a:rPr lang="zh-CN" altLang="en-US" sz="900" b="1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销量对比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NexGard Spectra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大宠爱（硕腾）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超可信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大宠爱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爱沃克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~2.4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Broadkick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猫驱虫，内外同驱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妙宠爱（硕腾）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博来恩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妙宠爱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福味恩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~0.6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贝卫多（默沙东）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可立奥（礼蓝）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尼可信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0.72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贝卫多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欣宠克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~0.6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Frontline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狗驱虫，滴剂外驱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索来多项圈（礼蓝）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恩倍多（瑞普生物）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福来恩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拜宠爽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恩倍多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~0.8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F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 b="1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驱虫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狗驱虫，口服内驱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拜宠清（礼蓝）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海乐妙（海正）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倍宠恩（普莱柯）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犬心保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拜宠清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海乐妙 </a:t>
                      </a:r>
                      <a:r>
                        <a:rPr lang="en-US" altLang="zh-CN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~1.5</a:t>
                      </a:r>
                      <a:r>
                        <a:rPr lang="zh-CN" altLang="en-US" sz="90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亿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365760" y="4800600"/>
            <a:ext cx="7315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注：以上数据基于市场调研和行业估算，非官方披露数据  |  Data based on market research estimates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0" y="4800600"/>
            <a:ext cx="146304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竞品深度：硕腾 Zoetis | Q1 2026 — 行业龙头遭遇「倒春寒」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2976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~5,000亿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976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全球年营收参考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 Ref.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51460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62432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23亿美元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262432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 · +3% YoY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（不及预期）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0916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81888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-11%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81888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美国伴侣动物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同比下滑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903720" y="804672"/>
            <a:ext cx="2057400" cy="86868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013448" y="85039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013448" y="1216152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国际市场增长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关键引擎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1828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中国市场策略 | China Strategy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4206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押注宠物五大慢性病：慢性肾病、肿瘤学、心脏病学、肥胖症、焦虑症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持续深耕宠物医院渠道，携手京东健康打造宠物抗感染中心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诊断领域：与生物梅里埃合作建立宠物临床微生物学示范实验室（2025年8月）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皮肤病产品：Apoquel（奥拉替尼）+ Cytopoint（洛吉司亭）全球领先，中国增速放缓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160520" cy="2148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1828800"/>
            <a:ext cx="4160520" cy="384048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00600" y="1828800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市场挑战 | Market Challenges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2286000"/>
            <a:ext cx="3886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美国宠物市场放缓，竞争加剧，增长降速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Q1股价大跌逾10%，盘前一度跌超20%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中国高价值宠物药市场面临国产品牌性价比优势激烈竞争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Ottava手术机器人等待监管批准，短期无法商业化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4114800"/>
            <a:ext cx="8503920" cy="54864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502920" y="411480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洞察：硕腾高壁垒、高毛利、高复购，但短期面临增速压力；国际+诊断是亮点，中国市场慢性病布局为长期关键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数据来源：硕腾 Q1 2026财报（4月29日）、雪球网、前瞻网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竞品动态：礼蓝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</a:t>
            </a:r>
            <a:r>
              <a:rPr lang="zh-CN" alt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 </a:t>
            </a:r>
            <a:r>
              <a:rPr lang="en-US" altLang="zh-CN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17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· MSD · Domestic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2743200" cy="384048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 Elanco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Q1营收10.4亿美元（-3%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新兴市场（中国等）面临短期压力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Zenrelia已覆盖超50%美国诊所，份额+5pct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Credelio Quattro渗透40%美国诊所，份额飙升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在已覆盖诊所中市场份额高达53%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全年有机增长指引上调至5%-7%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384048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33756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 MSD Animal Health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29184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Q1动物保健板块18亿美元（+13% YoY）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牲畜业务更强（反刍动物+家禽+定价优势）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持续举办「宠物医院发展论坛」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深度布局宠物医院渠道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Nobivac狂犬病疫苗中国强劲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Bravecto（氟雷拉纳）持续布局中国市场准入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804672"/>
            <a:ext cx="274320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217920" y="8046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国产品牌：海正 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 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80760" y="1261872"/>
            <a:ext cx="2743200" cy="24231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172200" y="1325880"/>
            <a:ext cx="2560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海正：海乐妙、海乐旺、莫爱佳、喜倍安、赛乐滴形成驱虫矩阵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普莱柯：倍宠恩进入犬用驱虫滴剂市场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瑞普生物：以外驱滴剂和性价比切入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国产品牌优势：价格、渠道速度、本土供应链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主要短板：兽医专业背书与高端品牌信任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840480"/>
            <a:ext cx="8503920" cy="68580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02920" y="3840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渠道策略共识 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Channel Strategy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：外资品牌守住宠物医院专业制高点，同时必须补齐电商搜索、内容种草、私域复购提醒和医生端数字工具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数据来源：礼蓝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默沙东公开资料、国产品牌公开信息、用户确认竞品池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国内竞品深度：海正动保 ⭐重点关注 | Haizhou Animal Health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384048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572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战略定位：从「两条腿走路」到「宠物为核心+出海」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60520" cy="329184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11480" y="1325880"/>
            <a:ext cx="393192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企业规模：25条生产线，近50款在售产品，40个在研产品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研发实力：85%新项目集中在宠物，每年4-6款新品上市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过去15年47个新兽药批文（占全国近10%），15个国家二类新兽药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2025年宠物业务占比55%（原计划2-3年实现，已提前完成）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2026年计划再推5-6个新品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产能布局：富阳（化药）+ 云南（疫苗/大分子）+ 台州（处方粮，2027投产）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国际化：2026年目标3-5个海外市场商业化；越南获批为出海首秀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出海节奏：一带一路优先（东南亚→俄罗斯→南美→非洲→中东→欧美）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804672"/>
            <a:ext cx="4160520" cy="38404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800600" y="804672"/>
            <a:ext cx="3886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核心产品矩阵 | Product Highlights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261872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663440" y="1261872"/>
            <a:ext cx="54864" cy="768096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828032" y="1325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 🏆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28032" y="158191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猫驱虫药，国内市占率第一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2025年含税销售额2亿元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国内猫约7000万只，渗透率&lt;20%（增长空间大）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2103120"/>
            <a:ext cx="54864" cy="768096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4828032" y="21671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28032" y="2423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国产猫三联疫苗，2025年2月上市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定价比进口品牌还高，工艺更好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填补国产高端宠物疫苗空白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63440" y="2944368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663440" y="2944368"/>
            <a:ext cx="54864" cy="768096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828032" y="300837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海乐旺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28032" y="3264408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驱虫药产品，获越南官方批准上市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出海首秀成功，国际化战略突破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663440" y="3785616"/>
            <a:ext cx="4160520" cy="768096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663440" y="3785616"/>
            <a:ext cx="54864" cy="768096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4828032" y="384962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处方粮（药粮联动）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28032" y="4105656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台州基地2026下半年开工，2027底投产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国内处方粮渗透率&lt;1%，海外25%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差异化定位：诊断—治疗—术后康复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4320" y="4535424"/>
            <a:ext cx="8503920" cy="384048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88620" y="453869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对BI威胁：海乐妙直接冲击BI猫驱虫线；85%研发投入宠物+出海战略意味着全面竞争；「药粮联动」或重塑宠物健康解决方案格局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数据来源：全球宠业出海洞察×海正动保总经理访谈（2026年5月11日）  |  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国内竞品动态 | Domestic Competitor Dynamics — 进口替代加速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2004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20040" y="804672"/>
            <a:ext cx="4160520" cy="411480"/>
          </a:xfrm>
          <a:prstGeom prst="rect">
            <a:avLst/>
          </a:prstGeom>
          <a:solidFill>
            <a:srgbClr val="FFE667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45720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海正动保  [⭐ 重点]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海乐妙猫驱虫市占率第一（2亿元/年）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海妙哆猫三联疫苗国产突破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85%研发投入宠物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出海：越南获批，2026目标3-5个海外市场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709160" y="80467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41148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846320" y="80467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  </a:t>
            </a:r>
            <a:r>
              <a:rPr lang="en-US" altLang="zh-CN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</a:t>
            </a:r>
            <a:r>
              <a:rPr lang="zh-CN" altLang="en-US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</a:t>
            </a:r>
            <a:r>
              <a:rPr lang="en-US" altLang="zh-CN" sz="11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]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846320" y="128016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倍宠恩切入犬用驱虫市场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布局宠物驱虫药市场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0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价格竞争压力上升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320040" y="2679192"/>
            <a:ext cx="4160520" cy="411480"/>
          </a:xfrm>
          <a:prstGeom prst="rect">
            <a:avLst/>
          </a:prstGeom>
          <a:solidFill>
            <a:srgbClr val="C5C3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0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金河生物  [观察]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2026年4月29日投资者关系活动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关注宠物动保业务动态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2679192"/>
            <a:ext cx="4160520" cy="1737360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4709160" y="2679192"/>
            <a:ext cx="4160520" cy="41148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846320" y="2679192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瑞普生物  [竞品]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46320" y="3154680"/>
            <a:ext cx="3886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恩倍多狗用滴剂对标福来恩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价格竞争激烈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4526280"/>
            <a:ext cx="8503920" cy="502920"/>
          </a:xfrm>
          <a:prstGeom prst="rect">
            <a:avLst/>
          </a:prstGeom>
          <a:solidFill>
            <a:srgbClr val="0831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国产替代加速深化 | Import Substitution Deepening：猫三联疫苗已实现国产集体突破，向高端药品市场渗透；国产品牌性价比优势持续蚕食外资份额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数据来源：前瞻网、海正动保官方信息、普莱柯电商信息  </a:t>
            </a:r>
            <a:r>
              <a:rPr lang="en-US" altLang="zh-CN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8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May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vs 竞品：关键维度对比 | BI vs Competitors — 5-Dimension Comparison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维度 Dimension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828800" y="804672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Boehringer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657600" y="80467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Zoetis 硕腾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53949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Elanco 礼蓝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solidFill>
            <a:srgbClr val="08312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995160" y="804672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Haizhou 海正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307592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11480" y="1307592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核心产品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Products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828800" y="1307592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874520" y="1307592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超可信、NexGard COMBO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（驱虫+抗寄生虫）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0" y="1307592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703320" y="130759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驱虫药、疫苗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949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4406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Zenrelia、Credelio Quattro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（创新驱虫）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995160" y="1307592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7040880" y="130759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海乐妙（猫驱虫第一）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海妙哆（国产猫三联）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65760" y="1929384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11480" y="1929384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技术优势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Edge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828800" y="1929384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874520" y="1929384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异恶唑啉类创新药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猫糖尿病口服在研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657600" y="1929384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703320" y="192938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手术机器人Ottava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慢性病五大领域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3949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54406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JAK抑制剂Zenrelia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Quattro放量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929384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7040880" y="192938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国产疫苗突破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原料药自产 6A标准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65760" y="2551176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11480" y="2551176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828800" y="2551176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874520" y="2551176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宠物医院+电商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双渠道布局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657600" y="2551176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703320" y="255117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医院为主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京东健康合作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3949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54406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医院深耕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K+N物流合作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995160" y="2551176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7040880" y="255117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电商增速80%+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医院线下布局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172968"/>
            <a:ext cx="146304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411480" y="3172968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市场定位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828800" y="3172968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1874520" y="3172968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高端驱虫/抗寄生虫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预防性用药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657600" y="3172968"/>
            <a:ext cx="173736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3703320" y="317296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高价值处方药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慢性病长期管理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3949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54406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预防+治疗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精准干预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995160" y="3172968"/>
            <a:ext cx="160020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7040880" y="3172968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性价比+国产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365760" y="3794760"/>
            <a:ext cx="146304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411480" y="379476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主要挑战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1828800" y="3794760"/>
            <a:ext cx="1828800" cy="621792"/>
          </a:xfrm>
          <a:prstGeom prst="rect">
            <a:avLst/>
          </a:prstGeom>
          <a:solidFill>
            <a:srgbClr val="E8FFF2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874520" y="3794760"/>
            <a:ext cx="1737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国产品性价比竞争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新品上市速度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3657600" y="3794760"/>
            <a:ext cx="173736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3703320" y="379476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增速放缓-11%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市场竞争加剧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949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54406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净负债33亿美元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新兴市场压力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6995160" y="3794760"/>
            <a:ext cx="1600200" cy="621792"/>
          </a:xfrm>
          <a:prstGeom prst="rect">
            <a:avLst/>
          </a:prstGeom>
          <a:solidFill>
            <a:srgbClr val="F5FBF7"/>
          </a:solidFill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Text 62"/>
          <p:cNvSpPr/>
          <p:nvPr/>
        </p:nvSpPr>
        <p:spPr>
          <a:xfrm>
            <a:off x="7040880" y="379476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高端突破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国际化经验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6" name="Text 64"/>
          <p:cNvSpPr/>
          <p:nvPr/>
        </p:nvSpPr>
        <p:spPr>
          <a:xfrm>
            <a:off x="365760" y="1307592"/>
            <a:ext cx="1463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Edge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行业趋势与 BI 机遇 | 6 Key Industry Trends &amp; BI Opportunities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36576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进口替代加速深化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猫三联疫苗国产集体突破后，海正等持续向高端宠物药品市场渗透，外资品牌份额面临压缩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754880" y="896112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03520" y="95097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国产宠药国际化突破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5303520" y="1243584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海正「海乐旺」获越南批准，中国动保企业从「引进来」向「走出去」转型，出海成战略重点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宠主决策线上化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440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搜索、比价、内容种草和复购提醒影响购买路径；品牌需要从单次交易转向年度健康管理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754880" y="2157984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754880" y="2157984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03520" y="2212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技术创新驱动增长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5303520" y="2505456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礼蓝Zenrelia/Credelio Quattro放量成唯一确定性路径；硕腾押注五大慢性病；创新是护城河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36576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渠道竞争进入闭环运营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91440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宠物医院负责信任建立，天猫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京东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抖音负责转化，企业微信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小程序负责复购与数据沉淀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3419856"/>
            <a:ext cx="4114800" cy="1115568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754880" y="3419856"/>
            <a:ext cx="4572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303520" y="347472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数字化成为新差异点</a:t>
            </a:r>
            <a:endParaRPr lang="en-US" sz="1100" dirty="0">
              <a:solidFill>
                <a:srgbClr val="222D2F"/>
              </a:solidFill>
            </a:endParaRPr>
          </a:p>
        </p:txBody>
      </p:sp>
      <p:sp>
        <p:nvSpPr>
          <p:cNvPr id="33" name="Text 31"/>
          <p:cNvSpPr/>
          <p:nvPr/>
        </p:nvSpPr>
        <p:spPr>
          <a:xfrm>
            <a:off x="5303520" y="3767328"/>
            <a:ext cx="3429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寄生虫风险地图、驱虫提醒、医生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内容、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问答与医院会员工具可形成</a:t>
            </a:r>
            <a:r>
              <a:rPr lang="en-US" altLang="zh-CN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9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数字护城河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行动建议：以超可信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福来恩建立高阶预防心智 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用医生端复购工具连接医院 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用风险地图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/AI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</a:t>
            </a:r>
            <a:r>
              <a:rPr lang="en-US" altLang="zh-CN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私域提醒形成数字化闭环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数字化战略机会 </a:t>
            </a:r>
            <a:r>
              <a:rPr lang="en-US" altLang="zh-CN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</a:t>
            </a:r>
            <a:r>
              <a:rPr lang="en-US" sz="2000" b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Strategy Opportunities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22860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从一次购买走向年度预防管理 </a:t>
            </a:r>
            <a:r>
              <a:rPr lang="en-US" altLang="zh-CN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</a:t>
            </a:r>
            <a:r>
              <a:rPr lang="zh-CN" altLang="en-US" sz="110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从品牌触达到医院复购闭环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234440"/>
            <a:ext cx="2743200" cy="9144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🔔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1440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寄生虫风险地图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Map + Reminder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按城市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季节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犬猫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生活方式分层风险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生成个性化驱虫周期提醒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南方蜱虫季、户外犬、多猫家庭重点教育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提醒后承接医院咨询或电商复购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234440"/>
            <a:ext cx="2743200" cy="9144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9476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</a:t>
            </a:r>
            <a:r>
              <a:rPr lang="en-US" altLang="zh-CN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内容矩阵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 KOC Content Engine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8328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0" name="Text 18"/>
          <p:cNvSpPr/>
          <p:nvPr/>
        </p:nvSpPr>
        <p:spPr>
          <a:xfrm>
            <a:off x="338328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医生短视频模板与合规话术库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小红书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</a:t>
            </a: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视频号场景化科普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竞品对比词与症状词搜索防守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从内容引导到医院问诊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234440"/>
            <a:ext cx="2743200" cy="3017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234440"/>
            <a:ext cx="2743200" cy="9144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6263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675120" y="137160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2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1627632"/>
            <a:ext cx="2057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it-IT" sz="800" i="1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 CRM + AI Q&amp;A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63640" y="1901952"/>
            <a:ext cx="2468880" cy="18288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1965960"/>
            <a:ext cx="2468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扫码建档：体重、用药、下次提醒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企业微信自动复购与随访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altLang="zh-CN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问答设置医疗边界并导流兽医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zh-CN" altLang="en-US" sz="95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沉淀合规一方数据资产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4370832"/>
            <a:ext cx="8412480" cy="594360"/>
          </a:xfrm>
          <a:prstGeom prst="rect">
            <a:avLst/>
          </a:prstGeom>
          <a:solidFill>
            <a:srgbClr val="08312A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65760" y="4370832"/>
            <a:ext cx="73152" cy="5943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7083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核心价值：建立「风险识别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专业教育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医院咨询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私域复购」闭环，让</a:t>
            </a:r>
            <a:r>
              <a:rPr lang="en-US" altLang="zh-CN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r>
              <a:rPr lang="zh-CN" altLang="en-US" sz="105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从驱虫药品牌升级为宠物预防医学管理入口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800600"/>
            <a:ext cx="84124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勃林格殷格翰中国宠物团队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总结与建议 | Summary &amp; Recommendations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0292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竞争格局快照 | Competitive Landscape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硕腾：大宠爱</a:t>
            </a:r>
            <a:r>
              <a:rPr lang="en-US" altLang="zh-CN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妙宠爱构成强猫狗驱虫心智，医生教育和慢病布局长期强势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礼蓝：可立奥、索来多项圈、拜宠清覆盖不同剂型与价格带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默沙东：贝卫多以长效省心定位形成清晰差异化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海正：海乐妙、海乐旺等矩阵化推进，国产替代和出海加速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普莱柯：以性价比、电商速度和下沉渠道形成持续压力</a:t>
            </a:r>
          </a:p>
          <a:p>
            <a:pPr marL="342900" indent="-342900">
              <a:buSzPct val="100000"/>
              <a:buChar char="•"/>
            </a:pPr>
            <a:r>
              <a:rPr lang="zh-CN" altLang="en-US" sz="95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竞争焦点从单品疗效转向专业信任、渠道效率和复购管理</a:t>
            </a:r>
            <a:endParaRPr lang="en-US" sz="950" dirty="0">
              <a:solidFill>
                <a:srgbClr val="222D2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160520" cy="361188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4800600" y="10789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行动建议 | Action Items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481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166360" y="14813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建立年度驱虫管理心智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66360" y="170992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把超可信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博来恩等从单次购买升级为全生命周期预防方案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solidFill>
            <a:srgbClr val="F58A68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663440" y="201168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663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搭建数字化复购闭环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5166360" y="22402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风险地图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提醒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+AI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问答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医院会员工具，沉淀合规一方数据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663440" y="254203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66360" y="25420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强化犬猫产品组合分工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5166360" y="277063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犬端突出高阶内外同驱，猫端强调便利性、安全感和专业推荐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4663440" y="307238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166360" y="30723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电商搜索与内容防守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5166360" y="330098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围绕竞品对比词、场景词、症状词建设合规内容和转化链路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663440" y="360273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166360" y="36027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医生</a:t>
            </a:r>
            <a:r>
              <a:rPr 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KOC</a:t>
            </a: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共创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6360" y="38313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把兽医教育升级为短视频内容、私域触达和到店咨询线索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solidFill>
            <a:srgbClr val="A3E5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663440" y="4133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166360" y="41330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900" b="1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关注国产替代</a:t>
            </a:r>
            <a:endParaRPr lang="en-US" sz="900" dirty="0">
              <a:solidFill>
                <a:srgbClr val="222D2F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5166360" y="436168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持续监测海正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瑞普</a:t>
            </a:r>
            <a:r>
              <a:rPr lang="en-US" altLang="zh-CN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zh-CN" altLang="en-US" sz="800">
                <a:solidFill>
                  <a:srgbClr val="222D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普莱柯价格、渠道、上新与医院端渗透</a:t>
            </a:r>
            <a:endParaRPr lang="en-US" sz="800" dirty="0">
              <a:solidFill>
                <a:srgbClr val="222D2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4681728"/>
            <a:ext cx="8412480" cy="438912"/>
          </a:xfrm>
          <a:prstGeom prst="rect">
            <a:avLst/>
          </a:prstGeom>
          <a:solidFill>
            <a:srgbClr val="00E47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48640" y="4681728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数据截至：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年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月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zh-CN" alt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非官方披露数据仅供内部使用  </a:t>
            </a:r>
            <a:r>
              <a:rPr lang="en-US" altLang="zh-CN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 </a:t>
            </a:r>
            <a:r>
              <a:rPr lang="en-US" sz="1000" b="1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bfd0b529-4a04-4616-88d2-531082d94bb8}" enabled="1" method="Standard" siteId="{e1f8af86-ee95-4718-bd0d-375b37366c8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616</TotalTime>
  <Words>2436</Words>
  <Application>Microsoft Office PowerPoint</Application>
  <PresentationFormat>全屏显示(16:9)</PresentationFormat>
  <Paragraphs>385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5" baseType="lpstr"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 Pet Competitive Ecosystem 2026</dc:title>
  <dc:subject>PptxGenJS Presentation</dc:subject>
  <dc:creator>BI China Pet Health</dc:creator>
  <cp:lastModifiedBy>LILY XU</cp:lastModifiedBy>
  <cp:revision>9</cp:revision>
  <dcterms:created xsi:type="dcterms:W3CDTF">2026-05-13T10:28:20Z</dcterms:created>
  <dcterms:modified xsi:type="dcterms:W3CDTF">2026-05-24T13:29:35Z</dcterms:modified>
</cp:coreProperties>
</file>