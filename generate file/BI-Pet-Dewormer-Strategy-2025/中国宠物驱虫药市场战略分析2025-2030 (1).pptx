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831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8312A"/>
                </a:solidFill>
                <a:latin typeface="Arial"/>
              </a:rPr>
              <a:t>中国宠物市场规模（亿元）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市场规模(亿元)</c:v>
                </c:pt>
              </c:strCache>
            </c:strRef>
          </c:tx>
          <c:spPr>
            <a:solidFill>
              <a:srgbClr val="00E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E2D2C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2025E</c:v>
                  </c:pt>
                  <c:pt idx="4">
                    <c:v>2026E</c:v>
                  </c:pt>
                  <c:pt idx="5">
                    <c:v>2027E</c:v>
                  </c:pt>
                  <c:pt idx="6">
                    <c:v>2030E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2200</c:v>
                </c:pt>
                <c:pt idx="1">
                  <c:v>2500</c:v>
                </c:pt>
                <c:pt idx="2">
                  <c:v>2800</c:v>
                </c:pt>
                <c:pt idx="3">
                  <c:v>3150</c:v>
                </c:pt>
                <c:pt idx="4">
                  <c:v>3500</c:v>
                </c:pt>
                <c:pt idx="5">
                  <c:v>4000</c:v>
                </c:pt>
                <c:pt idx="6">
                  <c:v>5600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2E2D2C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988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988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8312A"/>
                </a:solidFill>
                <a:latin typeface="Arial"/>
              </a:defRPr>
            </a:pPr>
            <a:r>
              <a:rPr sz="1000" b="0" i="0" u="none" strike="noStrike">
                <a:solidFill>
                  <a:srgbClr val="08312A"/>
                </a:solidFill>
                <a:latin typeface="Arial"/>
              </a:rPr>
              <a:t>品类结构占比（市场份额）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品类份额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98885"/>
              </a:solidFill>
              <a:effectLst/>
            </c:spPr>
          </c:dPt>
          <c:dPt>
            <c:idx val="1"/>
            <c:bubble3D val="0"/>
            <c:spPr>
              <a:solidFill>
                <a:srgbClr val="A3E5EE"/>
              </a:solidFill>
              <a:effectLst/>
            </c:spPr>
          </c:dPt>
          <c:dPt>
            <c:idx val="2"/>
            <c:bubble3D val="0"/>
            <c:spPr>
              <a:solidFill>
                <a:srgbClr val="00E47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体内驱虫</c:v>
                </c:pt>
                <c:pt idx="1">
                  <c:v>体外驱虫</c:v>
                </c:pt>
                <c:pt idx="2">
                  <c:v>内外同驱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30</c:v>
                </c:pt>
                <c:pt idx="1">
                  <c:v>35</c:v>
                </c:pt>
                <c:pt idx="2">
                  <c:v>35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中国宠物驱虫药市场战略分析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2025-2030 增长机会与可执行策略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3200400" cy="36576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48716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一、宏观与行业趋势   |   二、猫 vs 狗对比   |   三、产品机会分析   |   四、驱虫药市场分析   |   五、细分机会识别   |   六、竞争与渠道   |   七、策略建议   |   八、分阶段路线图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6231E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勃林格殷格翰中国宠物团队  |  pet-competitor  |  2026年5月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772400" y="4206240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06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核心战略结论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数据来源：艾媒咨询、前瞻研究院、petMD中国等公开报告  |  估算数据基于合理假设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804672"/>
            <a:ext cx="2057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804672"/>
            <a:ext cx="64008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" y="896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100→200亿+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444752" y="969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4632" y="13350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驱虫药市场增长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15-18%，猫是最大增量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68880" y="804672"/>
            <a:ext cx="2057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468880" y="804672"/>
            <a:ext cx="64008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5" name="Text 13"/>
          <p:cNvSpPr/>
          <p:nvPr/>
        </p:nvSpPr>
        <p:spPr>
          <a:xfrm>
            <a:off x="2633472" y="896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8大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593592" y="969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条结论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633472" y="13350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战略方向已明确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内外同驱+猫用滴剂为突破口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804672"/>
            <a:ext cx="2057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804672"/>
            <a:ext cx="64008" cy="9144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0" name="Text 18"/>
          <p:cNvSpPr/>
          <p:nvPr/>
        </p:nvSpPr>
        <p:spPr>
          <a:xfrm>
            <a:off x="4782312" y="896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742432" y="969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82312" y="13350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猫+幼宠+室内猫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三大机会市场同时启动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766560" y="804672"/>
            <a:ext cx="2057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766560" y="804672"/>
            <a:ext cx="64008" cy="9144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5" name="Text 23"/>
          <p:cNvSpPr/>
          <p:nvPr/>
        </p:nvSpPr>
        <p:spPr>
          <a:xfrm>
            <a:off x="6931152" y="89611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891272" y="96926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渠道占比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931152" y="13350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电商是销售主战场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内容种草×会员复购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1810512"/>
            <a:ext cx="2057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1810512"/>
            <a:ext cx="64008" cy="9144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" y="1901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40→70%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1444752" y="1975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84632" y="23408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规律驱虫率提升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复购率每+5%=LTV+20%+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68880" y="1810512"/>
            <a:ext cx="2057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68880" y="1810512"/>
            <a:ext cx="64008" cy="91440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35" name="Text 33"/>
          <p:cNvSpPr/>
          <p:nvPr/>
        </p:nvSpPr>
        <p:spPr>
          <a:xfrm>
            <a:off x="2633472" y="1901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E6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25-30%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3593592" y="1975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溢价意愿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2633472" y="23408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高端价格带消费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愿为安全便捷付溢价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17720" y="1810512"/>
            <a:ext cx="2057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617720" y="1810512"/>
            <a:ext cx="64008" cy="914400"/>
          </a:xfrm>
          <a:prstGeom prst="rect">
            <a:avLst/>
          </a:prstGeom>
          <a:solidFill>
            <a:srgbClr val="C5C3EE"/>
          </a:solidFill>
          <a:ln/>
        </p:spPr>
      </p:sp>
      <p:sp>
        <p:nvSpPr>
          <p:cNvPr id="40" name="Text 38"/>
          <p:cNvSpPr/>
          <p:nvPr/>
        </p:nvSpPr>
        <p:spPr>
          <a:xfrm>
            <a:off x="4782312" y="1901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5C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5742432" y="1975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行动年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782312" y="23408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猫用滴剂新规格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+幼宠首购+内容营销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766560" y="1810512"/>
            <a:ext cx="20574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766560" y="1810512"/>
            <a:ext cx="64008" cy="9144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45" name="Text 43"/>
          <p:cNvSpPr/>
          <p:nvPr/>
        </p:nvSpPr>
        <p:spPr>
          <a:xfrm>
            <a:off x="6931152" y="190195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25%+</a:t>
            </a:r>
            <a:endParaRPr lang="en-US" sz="2800" dirty="0"/>
          </a:p>
        </p:txBody>
      </p:sp>
      <p:sp>
        <p:nvSpPr>
          <p:cNvPr id="46" name="Text 44"/>
          <p:cNvSpPr/>
          <p:nvPr/>
        </p:nvSpPr>
        <p:spPr>
          <a:xfrm>
            <a:off x="7891272" y="19751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2030目标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6931152" y="23408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中国市场份额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建立预防医疗生态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一、市场趋势总览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宏观宠物市场 2024-2030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数据来源：艾媒咨询、前瞻研究院、petMD中国等公开报告  |  估算数据基于合理假设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04672"/>
          <a:ext cx="393192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4434840" y="804672"/>
            <a:ext cx="2148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34840" y="804672"/>
            <a:ext cx="64008" cy="5669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1" name="Text 8"/>
          <p:cNvSpPr/>
          <p:nvPr/>
        </p:nvSpPr>
        <p:spPr>
          <a:xfrm>
            <a:off x="4599432" y="896112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~2,800亿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572000" y="877824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宠物市场总量（2024），CAGR~12%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434840" y="1426464"/>
            <a:ext cx="2148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434840" y="1426464"/>
            <a:ext cx="64008" cy="56692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5" name="Text 12"/>
          <p:cNvSpPr/>
          <p:nvPr/>
        </p:nvSpPr>
        <p:spPr>
          <a:xfrm>
            <a:off x="4599432" y="1517904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1.3亿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0" y="1499616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宠物总数（猫+狗），增速~4%/年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434840" y="2048256"/>
            <a:ext cx="2148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34840" y="2048256"/>
            <a:ext cx="64008" cy="56692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9" name="Text 16"/>
          <p:cNvSpPr/>
          <p:nvPr/>
        </p:nvSpPr>
        <p:spPr>
          <a:xfrm>
            <a:off x="4599432" y="2139696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~100亿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572000" y="2121408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驱虫药市场规模，CAGR 15-18%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434840" y="2670048"/>
            <a:ext cx="214884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434840" y="2670048"/>
            <a:ext cx="64008" cy="56692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23" name="Text 20"/>
          <p:cNvSpPr/>
          <p:nvPr/>
        </p:nvSpPr>
        <p:spPr>
          <a:xfrm>
            <a:off x="4599432" y="2761488"/>
            <a:ext cx="1874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7,200万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572000" y="2743200"/>
            <a:ext cx="1920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猫数量，已超越狗，增速~8%/年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20040" y="329184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20040" y="3291840"/>
            <a:ext cx="64008" cy="8686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27" name="Text 24"/>
          <p:cNvSpPr/>
          <p:nvPr/>
        </p:nvSpPr>
        <p:spPr>
          <a:xfrm>
            <a:off x="484632" y="33832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城镇化+独居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4632" y="3694176"/>
            <a:ext cx="17830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2024城镇化率~65%，独居人口~9,200万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2468880" y="329184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2468880" y="3291840"/>
            <a:ext cx="64008" cy="8686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1" name="Text 28"/>
          <p:cNvSpPr/>
          <p:nvPr/>
        </p:nvSpPr>
        <p:spPr>
          <a:xfrm>
            <a:off x="2633472" y="33832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预防医学崛起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2633472" y="3694176"/>
            <a:ext cx="17830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科学养宠主流化，从「治病」到「防病」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617720" y="329184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617720" y="3291840"/>
            <a:ext cx="64008" cy="8686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5" name="Text 32"/>
          <p:cNvSpPr/>
          <p:nvPr/>
        </p:nvSpPr>
        <p:spPr>
          <a:xfrm>
            <a:off x="4782312" y="33832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消费高端化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782312" y="3694176"/>
            <a:ext cx="17830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单宠年均消费3,000-6,000元，医疗占比20-30%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6766560" y="3291840"/>
            <a:ext cx="20574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766560" y="3291840"/>
            <a:ext cx="64008" cy="86868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9" name="Text 36"/>
          <p:cNvSpPr/>
          <p:nvPr/>
        </p:nvSpPr>
        <p:spPr>
          <a:xfrm>
            <a:off x="6931152" y="33832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医院快速扩张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6931152" y="3694176"/>
            <a:ext cx="1783080" cy="3749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全国20,000+宠物诊所，连锁医院加速布局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三、猫 vs 狗市场趋势对比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数量、增速、消费、驱虫机会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数据来源：艾媒咨询、前瞻研究院、petMD中国等公开报告  |  估算数据基于合理假设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 (Cat)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数量（2024）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E4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7,200万只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CAGR 2024-2030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E4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~8%  ↑高速增长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室内猫比例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E4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&gt;70%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主人年龄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E4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25-35岁占60%+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线上购买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E4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80%+ 线上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年均驱虫支出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E4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200-400元/只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核心误区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E4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「不出门不驱虫」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最佳剂型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E4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滴剂（外用）★★★★★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0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804672"/>
          <a:ext cx="41148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指标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 (Dog)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数量（2024）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8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5,800万只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CAGR 2024-2030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8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~3%  →增速趋缓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户外暴露场景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8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高（每日遛狗）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主人年龄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8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30-45岁占55%+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兽医依赖度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8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较高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年均驱虫支出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8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300-600元/只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寄生虫风险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8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蜱虫/心丝虫高发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最佳剂型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58A6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咀嚼片+滴剂并重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274320" y="3749040"/>
            <a:ext cx="859536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1" name="Shape 7"/>
          <p:cNvSpPr/>
          <p:nvPr/>
        </p:nvSpPr>
        <p:spPr>
          <a:xfrm>
            <a:off x="274320" y="3749040"/>
            <a:ext cx="8595360" cy="54864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2" name="Text 8"/>
          <p:cNvSpPr/>
          <p:nvPr/>
        </p:nvSpPr>
        <p:spPr>
          <a:xfrm>
            <a:off x="457200" y="382219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战略建议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409651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猫：室内猫专属驱虫方案 + 滴剂为主 + 线上内容营销   |   狗：口服+滴剂并重 + 兽医推荐主导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五、未来5年驱虫产品机会分析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 vs 狗 × 优先级 × 增长潜力 × 竞争格局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数据来源：艾媒咨询、前瞻研究院、petMD中国等公开报告  |  估算数据基于合理假设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8595360" cy="566928"/>
          </a:xfrm>
          <a:prstGeom prst="rect">
            <a:avLst/>
          </a:prstGeom>
          <a:solidFill>
            <a:srgbClr val="FAF9F8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04672"/>
            <a:ext cx="64008" cy="5669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0" name="Shape 8"/>
          <p:cNvSpPr/>
          <p:nvPr/>
        </p:nvSpPr>
        <p:spPr>
          <a:xfrm>
            <a:off x="438912" y="93268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00E47C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" y="93268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★★★★★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965960" y="89611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猫用内外同驱滴剂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65960" y="11155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最大增量来源，增速最快，BI机会最强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74320" y="1444752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444752"/>
            <a:ext cx="64008" cy="56692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6" name="Shape 14"/>
          <p:cNvSpPr/>
          <p:nvPr/>
        </p:nvSpPr>
        <p:spPr>
          <a:xfrm>
            <a:off x="438912" y="157276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F58A68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" y="15727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★★★★☆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965960" y="153619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犬用超可信咀嚼片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65960" y="17556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市场规模大，兽医渠道信任度高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084832"/>
            <a:ext cx="8595360" cy="566928"/>
          </a:xfrm>
          <a:prstGeom prst="rect">
            <a:avLst/>
          </a:prstGeom>
          <a:solidFill>
            <a:srgbClr val="FAF9F8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084832"/>
            <a:ext cx="64008" cy="566928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22" name="Shape 20"/>
          <p:cNvSpPr/>
          <p:nvPr/>
        </p:nvSpPr>
        <p:spPr>
          <a:xfrm>
            <a:off x="438912" y="221284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A3E5EE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" y="221284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 ★★★★☆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965960" y="217627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猫用单方滴剂（室内猫）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65960" y="23957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入门级替代，教育转化空间大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74320" y="2724912"/>
            <a:ext cx="859536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724912"/>
            <a:ext cx="64008" cy="566928"/>
          </a:xfrm>
          <a:prstGeom prst="rect">
            <a:avLst/>
          </a:prstGeom>
          <a:solidFill>
            <a:srgbClr val="898885"/>
          </a:solidFill>
          <a:ln/>
        </p:spPr>
      </p:sp>
      <p:sp>
        <p:nvSpPr>
          <p:cNvPr id="28" name="Shape 26"/>
          <p:cNvSpPr/>
          <p:nvPr/>
        </p:nvSpPr>
        <p:spPr>
          <a:xfrm>
            <a:off x="438912" y="2852928"/>
            <a:ext cx="1417320" cy="310896"/>
          </a:xfrm>
          <a:prstGeom prst="roundRect">
            <a:avLst>
              <a:gd name="adj" fmla="val 17647"/>
            </a:avLst>
          </a:prstGeom>
          <a:solidFill>
            <a:srgbClr val="898885"/>
          </a:solidFill>
          <a:ln/>
        </p:spPr>
      </p:sp>
      <p:sp>
        <p:nvSpPr>
          <p:cNvPr id="29" name="Text 27"/>
          <p:cNvSpPr/>
          <p:nvPr/>
        </p:nvSpPr>
        <p:spPr>
          <a:xfrm>
            <a:off x="438912" y="285292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 ★★★☆☆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965960" y="281635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犬用口服/咀嚼片（单方）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965960" y="303580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稳定支撑，增速趋缓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12280" y="804672"/>
            <a:ext cx="2057400" cy="30175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3" name="Text 31"/>
          <p:cNvSpPr/>
          <p:nvPr/>
        </p:nvSpPr>
        <p:spPr>
          <a:xfrm>
            <a:off x="6903720" y="8412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猫用产品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1143000"/>
            <a:ext cx="2057400" cy="1389888"/>
          </a:xfrm>
          <a:prstGeom prst="rect">
            <a:avLst/>
          </a:prstGeom>
          <a:solidFill>
            <a:srgbClr val="F5F0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12280" y="1143000"/>
            <a:ext cx="54864" cy="138988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6" name="Text 34"/>
          <p:cNvSpPr/>
          <p:nvPr/>
        </p:nvSpPr>
        <p:spPr>
          <a:xfrm>
            <a:off x="6949440" y="118872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机会来源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 CAGR ~8%（远超狗~3%）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室内猫误区→教育空间大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猫主人25-35岁，线上化高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猫咪喂药难→滴剂最优解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本土品牌猫用内外同驱弱势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812280" y="2578608"/>
            <a:ext cx="2057400" cy="29260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261518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BI行动：博来恩家庭装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812280" y="2907792"/>
            <a:ext cx="205740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949440" y="2944368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推出3支/6支多支装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绑定季度订阅方案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「室内猫专用」概念营销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621024"/>
            <a:ext cx="8595360" cy="29260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2" name="Text 40"/>
          <p:cNvSpPr/>
          <p:nvPr/>
        </p:nvSpPr>
        <p:spPr>
          <a:xfrm>
            <a:off x="411480" y="3657600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犬用产品机会对比矩阵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950208"/>
          <a:ext cx="859536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  <a:gridCol w="1097280"/>
                <a:gridCol w="1188720"/>
                <a:gridCol w="2926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增长潜力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竞争烈度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BI机会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核心策略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犬用超可信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（内外同驱咀嚼片）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（激烈）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（需抢夺）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加大兽医教育投入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与硕腾正面竞争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犬用口服片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（单方体内）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稳定市场补充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兽医推荐渠道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犬用滴剂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（单方体外）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户外犬主场景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即时需求满足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hape 41"/>
          <p:cNvSpPr/>
          <p:nvPr/>
        </p:nvSpPr>
        <p:spPr>
          <a:xfrm>
            <a:off x="274320" y="4572000"/>
            <a:ext cx="8595360" cy="201168"/>
          </a:xfrm>
          <a:prstGeom prst="rect">
            <a:avLst/>
          </a:prstGeom>
          <a:solidFill>
            <a:srgbClr val="00E47C">
              <a:alpha val="20000"/>
            </a:srgbClr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457200" y="4590288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核心结论：猫用滴剂是突破口，犬用超可信是规模支撑，内外同驱是未来5年CAGR最高赛道（20%+）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四、驱虫药市场核心增长驱动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需求因素×产品机会×消费者洞察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数据来源：艾媒咨询、前瞻研究院、petMD中国等公开报告  |  估算数据基于合理假设</a:t>
            </a:r>
            <a:endParaRPr lang="en-US" sz="8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274320" y="804672"/>
          <a:ext cx="31089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3611880" y="804672"/>
            <a:ext cx="175564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11880" y="804672"/>
            <a:ext cx="64008" cy="18288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1" name="Text 8"/>
          <p:cNvSpPr/>
          <p:nvPr/>
        </p:nvSpPr>
        <p:spPr>
          <a:xfrm>
            <a:off x="3776472" y="8961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D1. 宠物数量增长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3776472" y="1207008"/>
            <a:ext cx="148132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贡献~40%市场增量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2024-2030净增猫狗5,000-6,000万只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新增主人预防意识更强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40680" y="804672"/>
            <a:ext cx="175564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40680" y="804672"/>
            <a:ext cx="64008" cy="18288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5" name="Text 12"/>
          <p:cNvSpPr/>
          <p:nvPr/>
        </p:nvSpPr>
        <p:spPr>
          <a:xfrm>
            <a:off x="5605272" y="8961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D2. 单宠消费提升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05272" y="1207008"/>
            <a:ext cx="148132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贡献~35%市场增量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预防医学意识崛起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高端化：愿为便捷安全溢价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269480" y="804672"/>
            <a:ext cx="1755648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7269480" y="804672"/>
            <a:ext cx="64008" cy="18288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9" name="Text 16"/>
          <p:cNvSpPr/>
          <p:nvPr/>
        </p:nvSpPr>
        <p:spPr>
          <a:xfrm>
            <a:off x="7434072" y="896112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D3. 驱虫频次提升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7434072" y="1207008"/>
            <a:ext cx="1481328" cy="1335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贡献~25%市场增量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规律驱虫率：40-50%→70%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兽医教育×数字提醒是杠杆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74320" y="2743200"/>
            <a:ext cx="8595360" cy="301752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2" name="Text 19"/>
          <p:cNvSpPr/>
          <p:nvPr/>
        </p:nvSpPr>
        <p:spPr>
          <a:xfrm>
            <a:off x="411480" y="278892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剂型对比与场景适配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3063240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651760"/>
                <a:gridCol w="2286000"/>
                <a:gridCol w="219456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剂型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优势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劣势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最佳场景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E47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滴剂 Spot-on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使用方便，持续1个月，猫接受度高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需分开颈背，长毛稍麻烦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猫、室内犬 ★★★★★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口服片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剂量精准，可包食物中，适合狗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猫给药困难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 ★★★★☆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咀嚼片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狗接受度高（像零食）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猫不适用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大型犬 ★★★☆☆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内外同驱滴剂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同时驱杀体内外，依从性最高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价格较高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首选推荐 ★★★★★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274320" y="4279392"/>
            <a:ext cx="8595360" cy="320040"/>
          </a:xfrm>
          <a:prstGeom prst="rect">
            <a:avLst/>
          </a:prstGeom>
          <a:solidFill>
            <a:srgbClr val="00E47C">
              <a:alpha val="20000"/>
            </a:srgbClr>
          </a:solidFill>
          <a:ln w="19050">
            <a:solidFill>
              <a:srgbClr val="00E47C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57200" y="4315968"/>
            <a:ext cx="8229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消费者购买核心因素：①安全性 ★★★★★   ②有效性 ★★★★★   ③使用便捷 ★★★★   ④品牌信任 ★★★★   ⑤价格 ★★★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五、细分机会优先级判断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P0/P1/P2/P3 四级优先级矩阵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数据来源：艾媒咨询、前瞻研究院、petMD中国等公开报告  |  估算数据基于合理假设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04672"/>
          <a:ext cx="8595360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914400"/>
                <a:gridCol w="914400"/>
                <a:gridCol w="914400"/>
                <a:gridCol w="822960"/>
                <a:gridCol w="8229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细分市场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机会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增长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竞争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壁垒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优先级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猫用驱虫药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4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幼宠驱虫（3-12月龄）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4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室内猫专属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0E47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高端价格带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高线城市（T1/T2）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多宠家庭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E66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犬用驱虫药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3E5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首次养宠人群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A3E5E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08312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下沉市场（T3/T4）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89888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2788920"/>
            <a:ext cx="4160520" cy="1737360"/>
          </a:xfrm>
          <a:prstGeom prst="rect">
            <a:avLst/>
          </a:prstGeom>
          <a:solidFill>
            <a:srgbClr val="F5F0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2788920"/>
            <a:ext cx="64008" cy="17373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1" name="Text 8"/>
          <p:cNvSpPr/>
          <p:nvPr/>
        </p:nvSpPr>
        <p:spPr>
          <a:xfrm>
            <a:off x="457200" y="2852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🐱  P0核心洞察：猫市场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57200" y="318211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室内猫「不出门不驱虫」误区是最大认知缺口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猫数量超狗+增速更快+消费年轻化+线上化程度高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猫咪喂药难→滴剂是最优解→博来恩猫用滴剂应重点推广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幼宠期建立驱虫习惯→锁定3-5年LTV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2788920"/>
            <a:ext cx="4206240" cy="1737360"/>
          </a:xfrm>
          <a:prstGeom prst="rect">
            <a:avLst/>
          </a:prstGeom>
          <a:solidFill>
            <a:srgbClr val="FFFBF0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788920"/>
            <a:ext cx="64008" cy="17373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28529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🐕  P1/P2延伸机会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846320" y="3182112"/>
            <a:ext cx="38404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高端价格带（&gt;300元/3支）：维持溢价形象，不参与价格战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多宠家庭：「家庭装多支优惠」提升客单价和复购率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首次养宠人群：医院首购→电商复购闭环是关键路径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下沉市场：O2O小规格渗透，不急于建立直营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六、渠道策略建议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渠道角色分化：教育×转化×复购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数据来源：艾媒咨询、前瞻研究院、petMD中国等公开报告  |  估算数据基于合理假设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2103120" cy="50292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850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电商平台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325880"/>
            <a:ext cx="2103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13533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~55%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71600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20%+ YoY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84048" y="1627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销售主战场×品牌建设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4048" y="1920240"/>
            <a:ext cx="1883664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15" name="Text 13"/>
          <p:cNvSpPr/>
          <p:nvPr/>
        </p:nvSpPr>
        <p:spPr>
          <a:xfrm>
            <a:off x="347472" y="1975104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内容种草（小红书/抖音）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搜索卡位（SEM/SEO）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会员复购体系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多宠家庭精准推送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468880" y="804672"/>
            <a:ext cx="2103120" cy="5029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17" name="Text 15"/>
          <p:cNvSpPr/>
          <p:nvPr/>
        </p:nvSpPr>
        <p:spPr>
          <a:xfrm>
            <a:off x="2578608" y="850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宠物医院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68880" y="1325880"/>
            <a:ext cx="2103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78608" y="13533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~25%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566160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5-8% YoY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578608" y="1627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教育主阵地×首购来源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578608" y="1920240"/>
            <a:ext cx="1883664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23" name="Text 21"/>
          <p:cNvSpPr/>
          <p:nvPr/>
        </p:nvSpPr>
        <p:spPr>
          <a:xfrm>
            <a:off x="2542032" y="1975104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CVTD学术会议赞助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兽医产品培训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幼宠首购合作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数字化驱虫档案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804672"/>
            <a:ext cx="2103120" cy="502920"/>
          </a:xfrm>
          <a:prstGeom prst="rect">
            <a:avLst/>
          </a:prstGeom>
          <a:solidFill>
            <a:srgbClr val="898885"/>
          </a:solidFill>
          <a:ln/>
        </p:spPr>
      </p:sp>
      <p:sp>
        <p:nvSpPr>
          <p:cNvPr id="25" name="Text 23"/>
          <p:cNvSpPr/>
          <p:nvPr/>
        </p:nvSpPr>
        <p:spPr>
          <a:xfrm>
            <a:off x="4773168" y="850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宠物店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663440" y="1325880"/>
            <a:ext cx="2103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773168" y="13533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~12%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760720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持平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773168" y="1627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补充渠道×即时购买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73168" y="1920240"/>
            <a:ext cx="1883664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1" name="Text 29"/>
          <p:cNvSpPr/>
          <p:nvPr/>
        </p:nvSpPr>
        <p:spPr>
          <a:xfrm>
            <a:off x="4736592" y="1975104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社区覆盖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即时购买场景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配合O2O配送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858000" y="804672"/>
            <a:ext cx="2103120" cy="50292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3" name="Text 31"/>
          <p:cNvSpPr/>
          <p:nvPr/>
        </p:nvSpPr>
        <p:spPr>
          <a:xfrm>
            <a:off x="6967728" y="85039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O2O平台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858000" y="1325880"/>
            <a:ext cx="2103120" cy="56692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967728" y="1353312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~5%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7955280" y="1389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30%+ YoY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67728" y="1627632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即时需求×下沉渗透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967728" y="1920240"/>
            <a:ext cx="1883664" cy="27432"/>
          </a:xfrm>
          <a:prstGeom prst="rect">
            <a:avLst/>
          </a:prstGeom>
          <a:solidFill>
            <a:srgbClr val="DDDDDD"/>
          </a:solidFill>
          <a:ln/>
        </p:spPr>
      </p:sp>
      <p:sp>
        <p:nvSpPr>
          <p:cNvPr id="39" name="Text 37"/>
          <p:cNvSpPr/>
          <p:nvPr/>
        </p:nvSpPr>
        <p:spPr>
          <a:xfrm>
            <a:off x="6931152" y="1975104"/>
            <a:ext cx="1956816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美团/饿了么接入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30分钟紧急补购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下沉市场主力渠道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74320" y="2971800"/>
            <a:ext cx="8595360" cy="96012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41" name="Shape 39"/>
          <p:cNvSpPr/>
          <p:nvPr/>
        </p:nvSpPr>
        <p:spPr>
          <a:xfrm>
            <a:off x="274320" y="2971800"/>
            <a:ext cx="8595360" cy="5029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30358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渠道策略核心框架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331012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教育渠道（兽医）：建立信任和专业背书 → 首购转化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转化渠道（电商）：内容种草 + 搜索卡位 → 直接销售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复购渠道（电商+O2O）：会员积分 + 数字提醒 + 即时配送 → 用户留存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七、产品与品牌策略建议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产品组合×定价×品牌×复购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数据来源：艾媒咨询、前瞻研究院、petMD中国等公开报告  |  估算数据基于合理假设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212080" cy="29260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8412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产品组合策略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521208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05840"/>
                <a:gridCol w="1097280"/>
                <a:gridCol w="1554480"/>
                <a:gridCol w="6400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产品线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定位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价格带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目标人群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优先度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31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内外同驱滴剂（超可信）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高端标杆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300-500元/3支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高线城市、品质导向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猫用专用滴剂（博来恩）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高端细分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200-350元/3支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室内猫主人、年轻用户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犬用口服/咀嚼片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中高端补充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150-280元/3支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犬主人、兽医推荐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★★★★☆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家庭装多支优惠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高端量大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800-1200元/12支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多宠家庭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★★★☆☆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入门体验装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中端引流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80-120元/1支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首次用户、下沉市场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2E2D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★★☆☆☆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25400" marR="25400" marT="25400" marB="2540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0" y="804672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69280" y="804672"/>
            <a:ext cx="64008" cy="8229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3" name="Text 10"/>
          <p:cNvSpPr/>
          <p:nvPr/>
        </p:nvSpPr>
        <p:spPr>
          <a:xfrm>
            <a:off x="5833872" y="8961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优先推动「内外同驱」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833872" y="1207008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依从性提升30%+，1次顶2次，BI超可信是品类标杆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69280" y="1700784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1700784"/>
            <a:ext cx="64008" cy="82296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7" name="Text 14"/>
          <p:cNvSpPr/>
          <p:nvPr/>
        </p:nvSpPr>
        <p:spPr>
          <a:xfrm>
            <a:off x="5833872" y="179222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猫用滴剂为突破口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833872" y="21031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博来恩猫用滴剂新规格（家庭装）+ 室内猫专属方案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669280" y="2596896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669280" y="2596896"/>
            <a:ext cx="64008" cy="82296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1" name="Text 18"/>
          <p:cNvSpPr/>
          <p:nvPr/>
        </p:nvSpPr>
        <p:spPr>
          <a:xfrm>
            <a:off x="5833872" y="268833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兽医端学术教育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833872" y="2999232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CVTD赞助×产品培训×临床数据支持×数字化工具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5669280" y="3493008"/>
            <a:ext cx="32004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669280" y="3493008"/>
            <a:ext cx="64008" cy="82296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5" name="Text 22"/>
          <p:cNvSpPr/>
          <p:nvPr/>
        </p:nvSpPr>
        <p:spPr>
          <a:xfrm>
            <a:off x="5833872" y="35844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消费者复购闭环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833872" y="3895344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小程序驱虫日历×电商会员×季度复购提醒×多宠家庭装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274320" y="3063240"/>
            <a:ext cx="5212080" cy="29260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28" name="Text 25"/>
          <p:cNvSpPr/>
          <p:nvPr/>
        </p:nvSpPr>
        <p:spPr>
          <a:xfrm>
            <a:off x="411480" y="309981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定价带布局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320040" y="3401568"/>
            <a:ext cx="126187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E47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93192" y="34381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393192" y="36758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&gt;300元/3支</a:t>
            </a:r>
            <a:endParaRPr lang="en-US" sz="950" dirty="0"/>
          </a:p>
        </p:txBody>
      </p:sp>
      <p:sp>
        <p:nvSpPr>
          <p:cNvPr id="32" name="Text 29"/>
          <p:cNvSpPr/>
          <p:nvPr/>
        </p:nvSpPr>
        <p:spPr>
          <a:xfrm>
            <a:off x="393192" y="387705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维持溢价，赠品替代降价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645920" y="3401568"/>
            <a:ext cx="126187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A3E5E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719072" y="34381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中高端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1719072" y="36758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200-300元/3支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1719072" y="387705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限时满减，不直接打折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2971800" y="3401568"/>
            <a:ext cx="126187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E66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044952" y="34381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E6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中端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3044952" y="36758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100-200元/3支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3044952" y="387705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首购优惠+小规格入门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4297680" y="3401568"/>
            <a:ext cx="1261872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89888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370832" y="3438144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经济型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370832" y="3675888"/>
            <a:ext cx="1115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&lt;100元/3支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4370832" y="3877056"/>
            <a:ext cx="1115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暂不开发，严控渠道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八、2025-2030 分阶段路线图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短期建立壁垒 → 中期扩大份额 → 长期生态主导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数据来源：艾媒咨询、前瞻研究院、petMD中国等公开报告  |  估算数据基于合理假设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097280" y="1572768"/>
            <a:ext cx="7132320" cy="36576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9" name="Shape 7"/>
          <p:cNvSpPr/>
          <p:nvPr/>
        </p:nvSpPr>
        <p:spPr>
          <a:xfrm>
            <a:off x="896112" y="1463040"/>
            <a:ext cx="402336" cy="402336"/>
          </a:xfrm>
          <a:prstGeom prst="ell">
            <a:avLst/>
          </a:prstGeom>
          <a:solidFill>
            <a:srgbClr val="F58A68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2025-2026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103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短期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2359152"/>
            <a:ext cx="256032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359152"/>
            <a:ext cx="2560320" cy="38404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404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建立壁垒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278892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猫用内外同驱滴剂新规格上市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兽医继续教育计划启动（CVTD）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抖音/小红书内容营销上线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BI宠物健康小程序驱虫日历上线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幼宠首购合作项目启动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4206240"/>
            <a:ext cx="2377440" cy="219456"/>
          </a:xfrm>
          <a:prstGeom prst="rect">
            <a:avLst/>
          </a:prstGeom>
          <a:solidFill>
            <a:srgbClr val="F58A68">
              <a:alpha val="15000"/>
            </a:srgbClr>
          </a:solidFill>
          <a:ln w="12700">
            <a:solidFill>
              <a:srgbClr val="F58A6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2062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市场份额+3pct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13632" y="1463040"/>
            <a:ext cx="402336" cy="402336"/>
          </a:xfrm>
          <a:prstGeom prst="ell">
            <a:avLst/>
          </a:prstGeom>
          <a:solidFill>
            <a:srgbClr val="FFE667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E6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2027-2028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474720" y="2103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中期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291840" y="2359152"/>
            <a:ext cx="256032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91840" y="2359152"/>
            <a:ext cx="2560320" cy="38404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23" name="Text 21"/>
          <p:cNvSpPr/>
          <p:nvPr/>
        </p:nvSpPr>
        <p:spPr>
          <a:xfrm>
            <a:off x="3383280" y="2404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扩大份额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278892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下沉市场O2O渠道全面接入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室内猫专属产品线上市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会员年度订阅模式试点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多宠家庭年度装推出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猫用驱虫药成为品类NO.2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383280" y="4206240"/>
            <a:ext cx="2377440" cy="219456"/>
          </a:xfrm>
          <a:prstGeom prst="rect">
            <a:avLst/>
          </a:prstGeom>
          <a:solidFill>
            <a:srgbClr val="FFE667">
              <a:alpha val="15000"/>
            </a:srgbClr>
          </a:solidFill>
          <a:ln w="12700">
            <a:solidFill>
              <a:srgbClr val="FFE66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42062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E6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会员复购率50%+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931152" y="1463040"/>
            <a:ext cx="402336" cy="402336"/>
          </a:xfrm>
          <a:prstGeom prst="ell">
            <a:avLst/>
          </a:prstGeom>
          <a:solidFill>
            <a:srgbClr val="00E47C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0" y="19019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2029-2030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92240" y="210312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长期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6309360" y="2359152"/>
            <a:ext cx="2560320" cy="20848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905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2359152"/>
            <a:ext cx="2560320" cy="38404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0" y="24048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生态主导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00800" y="2788920"/>
            <a:ext cx="23774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AI个性化驱虫提醒上线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宠物预防健康全品类扩展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中国市场份额达25%+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建立中国最大宠物预防医疗生态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400800" y="4206240"/>
            <a:ext cx="2377440" cy="219456"/>
          </a:xfrm>
          <a:prstGeom prst="rect">
            <a:avLst/>
          </a:prstGeom>
          <a:solidFill>
            <a:srgbClr val="00E47C">
              <a:alpha val="15000"/>
            </a:srgbClr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420624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KPI: 市场份额25%+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0292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1097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九、关键风险与应对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11480" y="47548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可能性×影响×应对策略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0" y="4800600"/>
            <a:ext cx="9144000" cy="3383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4846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数据来源：艾媒咨询、前瞻研究院、petMD中国等公开报告  |  估算数据基于合理假设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8595360" cy="347472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" y="84124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风险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337560" y="8412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可能性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977640" y="841248"/>
            <a:ext cx="594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617720" y="8412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应对策略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170432"/>
            <a:ext cx="8595360" cy="566928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" y="1170432"/>
            <a:ext cx="54864" cy="56692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" y="128016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本土品牌低价抢占下沉市场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1316736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58A68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13167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977640" y="1316736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FE667"/>
          </a:solidFill>
          <a:ln/>
        </p:spPr>
      </p:sp>
      <p:sp>
        <p:nvSpPr>
          <p:cNvPr id="19" name="Text 17"/>
          <p:cNvSpPr/>
          <p:nvPr/>
        </p:nvSpPr>
        <p:spPr>
          <a:xfrm>
            <a:off x="3977640" y="131673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17720" y="126187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暂不跟进价格战，聚焦品质和教育；O2O小规格渗透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1773936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1773936"/>
            <a:ext cx="54864" cy="56692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23" name="Text 21"/>
          <p:cNvSpPr/>
          <p:nvPr/>
        </p:nvSpPr>
        <p:spPr>
          <a:xfrm>
            <a:off x="411480" y="1883664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消费者价格敏感度上升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192024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FE667"/>
          </a:solidFill>
          <a:ln/>
        </p:spPr>
      </p:sp>
      <p:sp>
        <p:nvSpPr>
          <p:cNvPr id="25" name="Text 23"/>
          <p:cNvSpPr/>
          <p:nvPr/>
        </p:nvSpPr>
        <p:spPr>
          <a:xfrm>
            <a:off x="3337560" y="1920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977640" y="1920240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58A68"/>
          </a:solidFill>
          <a:ln/>
        </p:spPr>
      </p:sp>
      <p:sp>
        <p:nvSpPr>
          <p:cNvPr id="27" name="Text 25"/>
          <p:cNvSpPr/>
          <p:nvPr/>
        </p:nvSpPr>
        <p:spPr>
          <a:xfrm>
            <a:off x="3977640" y="192024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17720" y="1865376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推出入门体验装和会员优惠，不牺牲高端品牌形象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377440"/>
            <a:ext cx="8595360" cy="566928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" y="2377440"/>
            <a:ext cx="54864" cy="56692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31" name="Text 29"/>
          <p:cNvSpPr/>
          <p:nvPr/>
        </p:nvSpPr>
        <p:spPr>
          <a:xfrm>
            <a:off x="411480" y="2487168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兽医渠道话语权下降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337560" y="2523744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FE667"/>
          </a:solidFill>
          <a:ln/>
        </p:spPr>
      </p:sp>
      <p:sp>
        <p:nvSpPr>
          <p:cNvPr id="33" name="Text 31"/>
          <p:cNvSpPr/>
          <p:nvPr/>
        </p:nvSpPr>
        <p:spPr>
          <a:xfrm>
            <a:off x="3337560" y="25237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977640" y="2523744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FE667"/>
          </a:solidFill>
          <a:ln/>
        </p:spPr>
      </p:sp>
      <p:sp>
        <p:nvSpPr>
          <p:cNvPr id="35" name="Text 33"/>
          <p:cNvSpPr/>
          <p:nvPr/>
        </p:nvSpPr>
        <p:spPr>
          <a:xfrm>
            <a:off x="3977640" y="2523744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17720" y="2468880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强化兽医专业教育价值，同时加大电商私域触达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274320" y="2980944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" y="2980944"/>
            <a:ext cx="54864" cy="566928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39" name="Text 37"/>
          <p:cNvSpPr/>
          <p:nvPr/>
        </p:nvSpPr>
        <p:spPr>
          <a:xfrm>
            <a:off x="411480" y="3090672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电商平台流量成本持续上涨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337560" y="31272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58A68"/>
          </a:solidFill>
          <a:ln/>
        </p:spPr>
      </p:sp>
      <p:sp>
        <p:nvSpPr>
          <p:cNvPr id="41" name="Text 39"/>
          <p:cNvSpPr/>
          <p:nvPr/>
        </p:nvSpPr>
        <p:spPr>
          <a:xfrm>
            <a:off x="3337560" y="3127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977640" y="3127248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FE667"/>
          </a:solidFill>
          <a:ln/>
        </p:spPr>
      </p:sp>
      <p:sp>
        <p:nvSpPr>
          <p:cNvPr id="43" name="Text 41"/>
          <p:cNvSpPr/>
          <p:nvPr/>
        </p:nvSpPr>
        <p:spPr>
          <a:xfrm>
            <a:off x="3977640" y="3127248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617720" y="3072384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发展私域（微信小程序、会员体系）降低对付费流量依赖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584448"/>
            <a:ext cx="8595360" cy="566928"/>
          </a:xfrm>
          <a:prstGeom prst="rect">
            <a:avLst/>
          </a:prstGeom>
          <a:solidFill>
            <a:srgbClr val="FAF9F8"/>
          </a:solidFill>
          <a:ln/>
        </p:spPr>
      </p:sp>
      <p:sp>
        <p:nvSpPr>
          <p:cNvPr id="46" name="Shape 44"/>
          <p:cNvSpPr/>
          <p:nvPr/>
        </p:nvSpPr>
        <p:spPr>
          <a:xfrm>
            <a:off x="274320" y="3584448"/>
            <a:ext cx="54864" cy="566928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47" name="Text 45"/>
          <p:cNvSpPr/>
          <p:nvPr/>
        </p:nvSpPr>
        <p:spPr>
          <a:xfrm>
            <a:off x="411480" y="369417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新进入者跨界推出驱虫新品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337560" y="373075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FE667"/>
          </a:solidFill>
          <a:ln/>
        </p:spPr>
      </p:sp>
      <p:sp>
        <p:nvSpPr>
          <p:cNvPr id="49" name="Text 47"/>
          <p:cNvSpPr/>
          <p:nvPr/>
        </p:nvSpPr>
        <p:spPr>
          <a:xfrm>
            <a:off x="3337560" y="3730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977640" y="3730752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FE667"/>
          </a:solidFill>
          <a:ln/>
        </p:spPr>
      </p:sp>
      <p:sp>
        <p:nvSpPr>
          <p:cNvPr id="51" name="Text 49"/>
          <p:cNvSpPr/>
          <p:nvPr/>
        </p:nvSpPr>
        <p:spPr>
          <a:xfrm>
            <a:off x="3977640" y="373075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617720" y="3675888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加快产品迭代，保持技术领先优势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274320" y="4187952"/>
            <a:ext cx="8595360" cy="56692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52"/>
          <p:cNvSpPr/>
          <p:nvPr/>
        </p:nvSpPr>
        <p:spPr>
          <a:xfrm>
            <a:off x="274320" y="4187952"/>
            <a:ext cx="54864" cy="5669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55" name="Text 53"/>
          <p:cNvSpPr/>
          <p:nvPr/>
        </p:nvSpPr>
        <p:spPr>
          <a:xfrm>
            <a:off x="411480" y="42976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猫咪数量增长低于预期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337560" y="4334256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00E47C"/>
          </a:solidFill>
          <a:ln/>
        </p:spPr>
      </p:sp>
      <p:sp>
        <p:nvSpPr>
          <p:cNvPr id="57" name="Text 55"/>
          <p:cNvSpPr/>
          <p:nvPr/>
        </p:nvSpPr>
        <p:spPr>
          <a:xfrm>
            <a:off x="3337560" y="43342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977640" y="4334256"/>
            <a:ext cx="502920" cy="256032"/>
          </a:xfrm>
          <a:prstGeom prst="roundRect">
            <a:avLst>
              <a:gd name="adj" fmla="val 21429"/>
            </a:avLst>
          </a:prstGeom>
          <a:solidFill>
            <a:srgbClr val="F58A68"/>
          </a:solidFill>
          <a:ln/>
        </p:spPr>
      </p:sp>
      <p:sp>
        <p:nvSpPr>
          <p:cNvPr id="59" name="Text 57"/>
          <p:cNvSpPr/>
          <p:nvPr/>
        </p:nvSpPr>
        <p:spPr>
          <a:xfrm>
            <a:off x="3977640" y="4334256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4617720" y="4279392"/>
            <a:ext cx="4160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E2D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可快速切换加大犬用产品推广资源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31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中国宠物驱虫药市场战略总结 2025-2030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核心结论   |   勃林格殷格翰中国宠物团队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2743200" cy="914400"/>
          </a:xfrm>
          <a:prstGeom prst="rect">
            <a:avLst/>
          </a:prstGeom>
          <a:solidFill>
            <a:srgbClr val="06231E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64008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7" name="Text 5"/>
          <p:cNvSpPr/>
          <p:nvPr/>
        </p:nvSpPr>
        <p:spPr>
          <a:xfrm>
            <a:off x="484632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市场窗口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3441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100亿→200亿+，CAGR 15-18%，猫是最大增量来源（7,200万只，~8%增速）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914400"/>
          </a:xfrm>
          <a:prstGeom prst="rect">
            <a:avLst/>
          </a:prstGeom>
          <a:solidFill>
            <a:srgbClr val="06231E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960120"/>
            <a:ext cx="64008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1" name="Text 9"/>
          <p:cNvSpPr/>
          <p:nvPr/>
        </p:nvSpPr>
        <p:spPr>
          <a:xfrm>
            <a:off x="3364992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产品核心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13441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内外同驱，BI超可信品类标杆，依从性提升30%+，CAGR 20%+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080760" y="960120"/>
            <a:ext cx="2743200" cy="914400"/>
          </a:xfrm>
          <a:prstGeom prst="rect">
            <a:avLst/>
          </a:prstGeom>
          <a:solidFill>
            <a:srgbClr val="06231E"/>
          </a:solidFill>
          <a:ln w="12700">
            <a:solidFill>
              <a:srgbClr val="00E4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960120"/>
            <a:ext cx="64008" cy="914400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15" name="Text 13"/>
          <p:cNvSpPr/>
          <p:nvPr/>
        </p:nvSpPr>
        <p:spPr>
          <a:xfrm>
            <a:off x="6245352" y="105156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突破口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245352" y="134416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猫用滴剂，室内猫误区最大教育空间，滴剂最适配，增速最高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1965960"/>
            <a:ext cx="2743200" cy="914400"/>
          </a:xfrm>
          <a:prstGeom prst="rect">
            <a:avLst/>
          </a:prstGeom>
          <a:solidFill>
            <a:srgbClr val="06231E"/>
          </a:solidFill>
          <a:ln w="12700">
            <a:solidFill>
              <a:srgbClr val="A3E5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" y="1965960"/>
            <a:ext cx="64008" cy="914400"/>
          </a:xfrm>
          <a:prstGeom prst="rect">
            <a:avLst/>
          </a:prstGeom>
          <a:solidFill>
            <a:srgbClr val="A3E5EE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3E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渠道优先级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" y="23500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电商55%+医院25%，内容种草+搜索卡位+会员复购；医院教育主阵地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0" y="1965960"/>
            <a:ext cx="2743200" cy="914400"/>
          </a:xfrm>
          <a:prstGeom prst="rect">
            <a:avLst/>
          </a:prstGeom>
          <a:solidFill>
            <a:srgbClr val="06231E"/>
          </a:solidFill>
          <a:ln w="12700">
            <a:solidFill>
              <a:srgbClr val="F58A6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0" y="1965960"/>
            <a:ext cx="64008" cy="914400"/>
          </a:xfrm>
          <a:prstGeom prst="rect">
            <a:avLst/>
          </a:prstGeom>
          <a:solidFill>
            <a:srgbClr val="F58A68"/>
          </a:solidFill>
          <a:ln/>
        </p:spPr>
      </p:sp>
      <p:sp>
        <p:nvSpPr>
          <p:cNvPr id="23" name="Text 21"/>
          <p:cNvSpPr/>
          <p:nvPr/>
        </p:nvSpPr>
        <p:spPr>
          <a:xfrm>
            <a:off x="3364992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8A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复购=核心竞争力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64992" y="23500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规律驱虫率40-50%→70%；复购率每+5%，LTV+20%+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1965960"/>
            <a:ext cx="2743200" cy="914400"/>
          </a:xfrm>
          <a:prstGeom prst="rect">
            <a:avLst/>
          </a:prstGeom>
          <a:solidFill>
            <a:srgbClr val="06231E"/>
          </a:solidFill>
          <a:ln w="12700">
            <a:solidFill>
              <a:srgbClr val="FFE66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0760" y="1965960"/>
            <a:ext cx="64008" cy="914400"/>
          </a:xfrm>
          <a:prstGeom prst="rect">
            <a:avLst/>
          </a:prstGeom>
          <a:solidFill>
            <a:srgbClr val="FFE667"/>
          </a:solidFill>
          <a:ln/>
        </p:spPr>
      </p:sp>
      <p:sp>
        <p:nvSpPr>
          <p:cNvPr id="27" name="Text 25"/>
          <p:cNvSpPr/>
          <p:nvPr/>
        </p:nvSpPr>
        <p:spPr>
          <a:xfrm>
            <a:off x="6245352" y="2057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品牌策略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245352" y="2350008"/>
            <a:ext cx="2468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高端溢价定位，不参与价格战；高端维持溢价+中端入门引流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3017520"/>
            <a:ext cx="9144000" cy="38404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3072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2026年行动重点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926080" y="307238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831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猫用内外同驱滴剂新规格（家庭装）上市   ② 「幼宠首次驱虫」医院合作项目启动   ③ 小红书/抖音「科学驱虫」内容营销   ④ BI宠物健康小程序驱虫日历上线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0" y="3474720"/>
            <a:ext cx="9144000" cy="457200"/>
          </a:xfrm>
          <a:prstGeom prst="rect">
            <a:avLst/>
          </a:prstGeom>
          <a:solidFill>
            <a:srgbClr val="06231E"/>
          </a:solidFill>
          <a:ln/>
        </p:spPr>
      </p:sp>
      <p:sp>
        <p:nvSpPr>
          <p:cNvPr id="33" name="Text 31"/>
          <p:cNvSpPr/>
          <p:nvPr/>
        </p:nvSpPr>
        <p:spPr>
          <a:xfrm>
            <a:off x="411480" y="35387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E4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关键KPI：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828800" y="35387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2026年底市场份额+3pct  |  2028年底猫用驱虫药品类NO.2  |  2030年底复购用户比例55%+  |  2030年市场份额25%+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005072"/>
            <a:ext cx="9144000" cy="795528"/>
          </a:xfrm>
          <a:prstGeom prst="rect">
            <a:avLst/>
          </a:prstGeom>
          <a:solidFill>
            <a:srgbClr val="08312A"/>
          </a:solidFill>
          <a:ln/>
        </p:spPr>
      </p:sp>
      <p:sp>
        <p:nvSpPr>
          <p:cNvPr id="36" name="Shape 34"/>
          <p:cNvSpPr/>
          <p:nvPr/>
        </p:nvSpPr>
        <p:spPr>
          <a:xfrm>
            <a:off x="0" y="4005072"/>
            <a:ext cx="91440" cy="795528"/>
          </a:xfrm>
          <a:prstGeom prst="rect">
            <a:avLst/>
          </a:prstGeom>
          <a:solidFill>
            <a:srgbClr val="00E47C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114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Boehringer Ingelheim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572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88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中国宠物驱虫药市场战略分析  |  2025-2030  |  BI中国宠物团队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772400" y="4114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800" b="1" dirty="0">
                <a:solidFill>
                  <a:srgbClr val="0623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</a:t>
            </a:r>
            <a:endParaRPr lang="en-US" sz="4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中国宠物驱虫药市场战略分析 2025-2030</dc:title>
  <dc:subject>PptxGenJS Presentation</dc:subject>
  <dc:creator>BI中国宠物团队</dc:creator>
  <cp:lastModifiedBy>BI中国宠物团队</cp:lastModifiedBy>
  <cp:revision>1</cp:revision>
  <dcterms:created xsi:type="dcterms:W3CDTF">2026-05-06T05:19:33Z</dcterms:created>
  <dcterms:modified xsi:type="dcterms:W3CDTF">2026-05-06T05:19:33Z</dcterms:modified>
</cp:coreProperties>
</file>