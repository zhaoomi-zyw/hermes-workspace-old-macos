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Public information cutoff 2026-05-25. Template tone referenced from local BI Pet competitor ecosystem deck and Finance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Executive synthesis based on public China approvals, NRDL directory notes, and global MASH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MASH/MASLD epidemiology and care pathway synthesized from public clinical guidelines and epidemiology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Sources: Novo Nordisk China, Lilly China/press, Innovent press releases, NMPA/China Food and Drug News, Innogen, Huadong announcements.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Future launch radar is a probability view, not a regulatory prediction. Based on accepted NDAs, Phase III programs, and public company disclosures.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Sources: FDA Rezdiffra snapshot, EMA Rezdiffra EPAR, FDA Wegovy MASH approval, NEJM survodutide MASH phase 2, BI China/Zealand releases.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Ecosystem map synthesized from public competitor launches, channel partnerships and digital service disclosures.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Sources: PRNewswire NovoCare, Apple App Store NovoCare, Novo/JD/Ark Health media reports, Innovent pharmacy collaboration, Huadong/AliHealth report, Innogen/JD Pharmacy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Sources: NHSA 2025 directory/public notices, drug directory listings, media reports on GLP-1 NRDL inclusion and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BI implications derived from competitor ecosystem and survodutide public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Roadmap is designed for BI marketing competitive intelligence and launch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Selected source URLs: FDA Rezdiffra/Wegovy MASH; EMA Rezdiffra; NEJM survodutide; BI China; Innovent PR; PRNewswire NovoCare; NHSA directory notices; China Food and Drug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working notes:
Product snapshot intentionally simplifies a larger approval universe for marketing strategy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8312A"/>
          </a:solidFill>
          <a:ln w="12700">
            <a:solidFill>
              <a:srgbClr val="083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146304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583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5EE"/>
                </a:solidFill>
              </a:rPr>
              <a:t>GLP-1 / MASH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971800" cy="1353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中国竞争者生态与市场分析报告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7F3"/>
                </a:solidFill>
              </a:rPr>
              <a:t>覆盖已上市药品、三年上市窗口、数字化解决方案与医保策略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5349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5EE"/>
                </a:solidFill>
              </a:rPr>
              <a:t>市场趋势 · 竞品动态 · BI机会 · 商业化策略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5715000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8D6E5"/>
                </a:solidFill>
              </a:rPr>
              <a:t>数据截至：2026-05-25；公开资料整理，监管审批与商业化时间存在不确定性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4389120" y="82296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822960"/>
            <a:ext cx="73152" cy="1417320"/>
          </a:xfrm>
          <a:prstGeom prst="rect">
            <a:avLst/>
          </a:prstGeom>
          <a:solidFill>
            <a:srgbClr val="1F7F76"/>
          </a:solidFill>
          <a:ln w="12700">
            <a:solidFill>
              <a:srgbClr val="1F7F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987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7F76"/>
                </a:solidFill>
              </a:rPr>
              <a:t>GLP-1 市场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4553712" y="1298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红海化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3712" y="17556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从单靶点向双/三靶点、口服化和国产类似药价格竞争升级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812280" y="82296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822960"/>
            <a:ext cx="73152" cy="1417320"/>
          </a:xfrm>
          <a:prstGeom prst="rect">
            <a:avLst/>
          </a:prstGeom>
          <a:solidFill>
            <a:srgbClr val="008800"/>
          </a:solidFill>
          <a:ln w="12700">
            <a:solidFill>
              <a:srgbClr val="008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987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8800"/>
                </a:solidFill>
              </a:rPr>
              <a:t>MASH 市场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976872" y="1298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前夜期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76872" y="17556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中国尚无MASH适应症获批药物，全球已进入标签验证阶段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235440" y="82296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822960"/>
            <a:ext cx="73152" cy="141732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987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E47C"/>
                </a:solidFill>
              </a:rPr>
              <a:t>BI 机会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9400032" y="1298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代谢肝病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00032" y="17556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survodutide可用“体重+肝脏+心代谢”叙事建立差异化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389120" y="2788920"/>
            <a:ext cx="6995160" cy="2148840"/>
          </a:xfrm>
          <a:prstGeom prst="rect">
            <a:avLst/>
          </a:prstGeom>
          <a:solidFill>
            <a:srgbClr val="F5FB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035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</a:rPr>
              <a:t>核心结论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3493008"/>
            <a:ext cx="63550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2D2F"/>
                </a:solidFill>
              </a:rPr>
              <a:t>中国GLP-1竞争即将从“谁先上市”转为“谁能把减重、糖尿病、肝脏与长期管理做成闭环”。MASH短期缺少中国获批标签，但将成为下一轮差异化和医保价值论证的关键战场。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4617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</a:rPr>
              <a:t>Prepared for BI Human Pharma Marketing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执行摘要 | 竞争从“减重疗效”转向“代谢器官保护+长期管理”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Executive Summary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2423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1F7F76"/>
          </a:solidFill>
          <a:ln w="12700">
            <a:solidFill>
              <a:srgbClr val="1F7F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8191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7F76"/>
                </a:solidFill>
              </a:rPr>
              <a:t>已上市格局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804672" y="18928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MNC高端心智 + 国产快速追赶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" y="235000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诺和诺德、礼来仍掌握品牌与疗效标杆；信达、华东、银诺、先为达等本土企业正在以机制、价格、渠道切入。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520440" y="1417320"/>
            <a:ext cx="2423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417320"/>
            <a:ext cx="73152" cy="1920240"/>
          </a:xfrm>
          <a:prstGeom prst="rect">
            <a:avLst/>
          </a:prstGeom>
          <a:solidFill>
            <a:srgbClr val="F58A68"/>
          </a:solidFill>
          <a:ln w="12700">
            <a:solidFill>
              <a:srgbClr val="F58A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158191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58A68"/>
                </a:solidFill>
              </a:rPr>
              <a:t>未来三年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3685032" y="18928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类似药放量 + 双靶点/口服迭代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5032" y="235000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HRS9531、司美格鲁肽类似药、survodutide、口服GLP-1与复方组合将改变竞争节奏；上市时间需以CDE/NMPA为准。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2423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417320"/>
            <a:ext cx="73152" cy="192024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58191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E47C"/>
                </a:solidFill>
              </a:rPr>
              <a:t>数字化打法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6565392" y="18928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患者旅程闭环成为差异化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65392" y="235000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成熟玩家把药品嵌入小程序、DTP/电商、线上问诊、复购提醒、生活方式管理和数据随访。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281160" y="1417320"/>
            <a:ext cx="2423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1160" y="1417320"/>
            <a:ext cx="73152" cy="1920240"/>
          </a:xfrm>
          <a:prstGeom prst="rect">
            <a:avLst/>
          </a:prstGeom>
          <a:solidFill>
            <a:srgbClr val="008800"/>
          </a:solidFill>
          <a:ln w="12700">
            <a:solidFill>
              <a:srgbClr val="008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5752" y="158191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8800"/>
                </a:solidFill>
              </a:rPr>
              <a:t>医保策略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9445752" y="18928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糖尿病可进医保；减重和MASH更依赖商保/自费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45752" y="235000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NRDL原则仍是“保基本”：T2D治疗有准入路径，单纯减重支付受限；MASH需先建立诊断与临床终点价值。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85800" y="4023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</a:rPr>
              <a:t>对 BI 的含义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434840"/>
            <a:ext cx="1325880" cy="384048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47141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战场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2011680" y="4434840"/>
            <a:ext cx="3291840" cy="384048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4714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竞争焦点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5303520" y="4434840"/>
            <a:ext cx="5623560" cy="384048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4471416"/>
            <a:ext cx="55321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BI 应对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685800" y="4818888"/>
            <a:ext cx="13258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85546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22D2F"/>
                </a:solidFill>
              </a:rPr>
              <a:t>肥胖/超重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011680" y="4818888"/>
            <a:ext cx="32918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485546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22D2F"/>
                </a:solidFill>
              </a:rPr>
              <a:t>减重幅度、耐受性、渠道覆盖、支付能力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303520" y="4818888"/>
            <a:ext cx="56235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4855464"/>
            <a:ext cx="55321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22D2F"/>
                </a:solidFill>
              </a:rPr>
              <a:t>不只讲体重，绑定肝脂、心代谢和长期依从性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5800" y="5202936"/>
            <a:ext cx="1325880" cy="38404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23951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22D2F"/>
                </a:solidFill>
              </a:rPr>
              <a:t>T2D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011680" y="5202936"/>
            <a:ext cx="3291840" cy="38404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57400" y="523951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22D2F"/>
                </a:solidFill>
              </a:rPr>
              <a:t>医保准入、医生教育、国产替代价格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03520" y="5202936"/>
            <a:ext cx="5623560" cy="38404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5239512"/>
            <a:ext cx="55321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22D2F"/>
                </a:solidFill>
              </a:rPr>
              <a:t>证据链需聚焦高风险代谢人群，而非泛糖尿病红海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85800" y="5586984"/>
            <a:ext cx="13258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562356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22D2F"/>
                </a:solidFill>
              </a:rPr>
              <a:t>MASH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011680" y="5586984"/>
            <a:ext cx="32918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57400" y="562356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22D2F"/>
                </a:solidFill>
              </a:rPr>
              <a:t>诊断筛查、组织学/非侵入指标、肝纤维化终点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303520" y="5586984"/>
            <a:ext cx="56235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9240" y="5623560"/>
            <a:ext cx="55321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22D2F"/>
                </a:solidFill>
              </a:rPr>
              <a:t>提前建设肝病-内分泌-体重管理协同路径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中国GLP-1/MASH治疗生态 | 两条路径正在汇合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Market Architecture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207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7F76"/>
                </a:solidFill>
              </a:rPr>
              <a:t>GLP-1：从降糖到体重管理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2926080" cy="0"/>
          </a:xfrm>
          <a:prstGeom prst="line">
            <a:avLst/>
          </a:prstGeom>
          <a:noFill/>
          <a:ln w="15240">
            <a:solidFill>
              <a:srgbClr val="1F7F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207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800"/>
                </a:solidFill>
              </a:rPr>
              <a:t>MASH：从肝病诊断到代谢共病管理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0" y="1481328"/>
            <a:ext cx="2926080" cy="0"/>
          </a:xfrm>
          <a:prstGeom prst="line">
            <a:avLst/>
          </a:prstGeom>
          <a:noFill/>
          <a:ln w="15240">
            <a:solidFill>
              <a:srgbClr val="0088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737360"/>
            <a:ext cx="1280160" cy="475488"/>
          </a:xfrm>
          <a:prstGeom prst="roundRect">
            <a:avLst>
              <a:gd name="adj" fmla="val 15385"/>
            </a:avLst>
          </a:prstGeom>
          <a:solidFill>
            <a:srgbClr val="1F7F76"/>
          </a:solidFill>
          <a:ln w="12700">
            <a:solidFill>
              <a:srgbClr val="1F7F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185623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T2D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2240280" y="179222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22D2F"/>
                </a:solidFill>
              </a:rPr>
              <a:t>医保目录入口、内分泌医生教育、院内处方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2697480"/>
            <a:ext cx="1280160" cy="475488"/>
          </a:xfrm>
          <a:prstGeom prst="roundRect">
            <a:avLst>
              <a:gd name="adj" fmla="val 15385"/>
            </a:avLst>
          </a:prstGeom>
          <a:solidFill>
            <a:srgbClr val="F58A68"/>
          </a:solidFill>
          <a:ln w="12700">
            <a:solidFill>
              <a:srgbClr val="F58A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81635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肥胖/超重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2240280" y="275234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22D2F"/>
                </a:solidFill>
              </a:rPr>
              <a:t>自费/商保为主，院外渠道、体重管理中心、线上问诊扩张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657600"/>
            <a:ext cx="1280160" cy="475488"/>
          </a:xfrm>
          <a:prstGeom prst="roundRect">
            <a:avLst>
              <a:gd name="adj" fmla="val 15385"/>
            </a:avLst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77647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心肾代谢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2240280" y="371246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22D2F"/>
                </a:solidFill>
              </a:rPr>
              <a:t>CKD/CV等适应症扩大生命周期，强化长期治疗价值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92240" y="173736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008800"/>
          </a:solidFill>
          <a:ln w="12700">
            <a:solidFill>
              <a:srgbClr val="008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185623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筛查入口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001000" y="179222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22D2F"/>
                </a:solidFill>
              </a:rPr>
              <a:t>肝酶异常、脂肪肝影像、肥胖/T2D高危人群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92240" y="269748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81635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治疗终点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001000" y="275234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22D2F"/>
                </a:solidFill>
              </a:rPr>
              <a:t>MASH改善、纤维化改善、肝脏事件长期降低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92240" y="365760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377647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商业瓶颈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001000" y="37124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22D2F"/>
                </a:solidFill>
              </a:rPr>
              <a:t>诊断链条长、活检/非侵入检测标准、医保价值尚需论证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21808" y="2359152"/>
            <a:ext cx="987552" cy="731520"/>
          </a:xfrm>
          <a:prstGeom prst="chevron">
            <a:avLst/>
          </a:prstGeom>
          <a:solidFill>
            <a:srgbClr val="E8FFF2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32186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47C"/>
                </a:solidFill>
              </a:rPr>
              <a:t>汇合点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80560" y="36576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312A"/>
                </a:solidFill>
              </a:rPr>
              <a:t>肥胖/T2D/MASLD高危人群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312A"/>
                </a:solidFill>
              </a:rPr>
              <a:t>同一个长期管理池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4400" y="501091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</a:rPr>
              <a:t>营销启示：MASH不是孤立肝病市场，而是GLP-1竞争升级后的“高价值共病场景”。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GLP-1相关药品：中国已上市竞争者清单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Marketed Products in China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75488" y="1170432"/>
            <a:ext cx="1170432" cy="329184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20700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企业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1645920" y="1170432"/>
            <a:ext cx="1874520" cy="329184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2070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产品/机制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3520440" y="1170432"/>
            <a:ext cx="2788920" cy="329184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20700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中国已获批适应症</a:t>
            </a:r>
            <a:endParaRPr lang="en-US" sz="670" dirty="0"/>
          </a:p>
        </p:txBody>
      </p:sp>
      <p:sp>
        <p:nvSpPr>
          <p:cNvPr id="14" name="Shape 12"/>
          <p:cNvSpPr/>
          <p:nvPr/>
        </p:nvSpPr>
        <p:spPr>
          <a:xfrm>
            <a:off x="6309360" y="1170432"/>
            <a:ext cx="4773168" cy="329184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207008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商业含义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475488" y="1499616"/>
            <a:ext cx="1170432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1536192"/>
            <a:ext cx="10789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诺和诺德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645920" y="1499616"/>
            <a:ext cx="18745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536192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司美格鲁肽注射液/片；利拉鲁肽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520440" y="1499616"/>
            <a:ext cx="27889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53619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T2D；司美格鲁肽2.4mg长期体重管理；CKD等标签扩展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309360" y="1499616"/>
            <a:ext cx="4773168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536192"/>
            <a:ext cx="46817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品牌心智和证据体系最强，数字化患者管理领先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75488" y="2048256"/>
            <a:ext cx="1170432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208483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礼来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645920" y="2048256"/>
            <a:ext cx="1874520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20848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替尔泊肽 GIP/GLP-1；度拉糖肽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520440" y="2048256"/>
            <a:ext cx="2788920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0848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T2D；长期体重管理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309360" y="2048256"/>
            <a:ext cx="4773168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084832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疗效标杆型对手，价格与医保准入将改变处方结构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75488" y="2578608"/>
            <a:ext cx="117043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2615184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信达生物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645920" y="2578608"/>
            <a:ext cx="1874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261518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玛仕度肽 GCG/GLP-1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520440" y="2578608"/>
            <a:ext cx="27889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261518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2025获批长期体重管理；2025获批T2D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309360" y="2578608"/>
            <a:ext cx="477316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615184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首个国产双受体减重药，机制叙事与BI高度相关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75488" y="3108960"/>
            <a:ext cx="1170432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3145536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华东医药/中美华东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1645920" y="3108960"/>
            <a:ext cx="1874520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91640" y="314553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利拉鲁肽生物类似药；司美格鲁肽类似药布局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520440" y="3108960"/>
            <a:ext cx="2788920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314553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T2D；肥胖/超重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309360" y="3108960"/>
            <a:ext cx="4773168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3145536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国产替代和院外/线上渠道能力突出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75488" y="3639312"/>
            <a:ext cx="117043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3675888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银诺医药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645920" y="3639312"/>
            <a:ext cx="1874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91640" y="36758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依苏帕格鲁肽α 长效GLP-1RA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520440" y="3639312"/>
            <a:ext cx="27889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0" y="36758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2025获批T2D；2025医保目录进入，2026执行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309360" y="3639312"/>
            <a:ext cx="477316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367588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国产原研长效GLP-1，医保放量值得跟踪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475488" y="4169664"/>
            <a:ext cx="1170432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" y="420624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先为达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1645920" y="4169664"/>
            <a:ext cx="1874520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91640" y="4206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埃诺格鲁肽 cAMP偏向型GLP-1RA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520440" y="4169664"/>
            <a:ext cx="2788920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66160" y="4206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2026获批T2D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6309360" y="4169664"/>
            <a:ext cx="4773168" cy="53035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55080" y="4206240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机制差异化，后续减重拓展是关注点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75488" y="4700016"/>
            <a:ext cx="117043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1208" y="4736592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豪森/仁会等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645920" y="4700016"/>
            <a:ext cx="18745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91640" y="4736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洛塞那肽、贝那鲁肽等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3520440" y="4700016"/>
            <a:ext cx="27889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66160" y="473659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T2D为主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6309360" y="4700016"/>
            <a:ext cx="477316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55080" y="4736592"/>
            <a:ext cx="468172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22D2F"/>
                </a:solidFill>
              </a:rPr>
              <a:t>存量GLP-1基础市场，面临升级替代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02920" y="5650992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98885"/>
                </a:solidFill>
              </a:rPr>
              <a:t>注：表格聚焦商业/营销相关度较高的GLP-1RA、GIP/GLP-1、GCG/GLP-1产品；不等同于完整药监批准数据库。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GLP-1未来三年上市窗口 | “类似药价格战”与“下一代机制”并行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2026-2028 Launch Radar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49808" y="1261872"/>
            <a:ext cx="3200400" cy="4206240"/>
          </a:xfrm>
          <a:prstGeom prst="rect">
            <a:avLst/>
          </a:prstGeom>
          <a:solidFill>
            <a:srgbClr val="F7FB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44475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F76"/>
                </a:solidFill>
              </a:rPr>
              <a:t>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53128" y="1261872"/>
            <a:ext cx="3200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4475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47C"/>
                </a:solidFill>
              </a:rPr>
              <a:t>2027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6448" y="1261872"/>
            <a:ext cx="3200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44475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A68"/>
                </a:solidFill>
              </a:rPr>
              <a:t>2028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1920240"/>
            <a:ext cx="28529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F7F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02996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F7F76"/>
          </a:solidFill>
          <a:ln w="12700">
            <a:solidFill>
              <a:srgbClr val="1F7F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089404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司美格鲁肽类似药/仿制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060704" y="245059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22D2F"/>
                </a:solidFill>
              </a:rPr>
              <a:t>九源、华东、石药、齐鲁、联邦、丽珠等多个NDA/审评后期；T2D先行，减重适应症随后竞争。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914400" y="3493008"/>
            <a:ext cx="28529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58A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3602736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58A68"/>
          </a:solidFill>
          <a:ln w="12700">
            <a:solidFill>
              <a:srgbClr val="F58A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662172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HRS9531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060704" y="402336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22D2F"/>
                </a:solidFill>
              </a:rPr>
              <a:t>恒瑞GLP-1/GIP双激动剂NDA获受理；若顺利，国产双靶点减重竞争提前到来。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4617720" y="1920240"/>
            <a:ext cx="28529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27448" y="202996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089404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survodutide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4764024" y="245059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22D2F"/>
                </a:solidFill>
              </a:rPr>
              <a:t>BI/Zealand GCG/GLP-1，肥胖III期在中国同步递交；上市取决于全球III期与中国注册策略。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4617720" y="3493008"/>
            <a:ext cx="28529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0088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27448" y="3602736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08800"/>
          </a:solidFill>
          <a:ln w="12700">
            <a:solidFill>
              <a:srgbClr val="008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62172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玛仕度肽扩展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4764024" y="402336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22D2F"/>
                </a:solidFill>
              </a:rPr>
              <a:t>T2D已获批，OSA、MASLD/MASH相关代谢证据可继续强化复合价值。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8321040" y="1920240"/>
            <a:ext cx="28529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0831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0768" y="202996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8312A"/>
          </a:solidFill>
          <a:ln w="12700">
            <a:solidFill>
              <a:srgbClr val="0831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2089404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口服GLP-1/小分子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8467344" y="245059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22D2F"/>
                </a:solidFill>
              </a:rPr>
              <a:t>orforglipron等全球领先项目可能改写依从性与渠道模式；中国时间需监管确认。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8321040" y="3493008"/>
            <a:ext cx="28529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3602736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3662172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复方/三靶点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8467344" y="402336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22D2F"/>
                </a:solidFill>
              </a:rPr>
              <a:t>CagriSema、retatrutide等全球数据将抬高疗效预期，中国引入取决于注册桥接和产能。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777240" y="5715000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8312A"/>
                </a:solidFill>
              </a:rPr>
              <a:t>研判：三年内最确定的是司美格鲁肽类似药带来的价格/准入冲击；最值得BI提前防守的是GCG/GLP-1机制叙事被国产玛仕度肽预先占位。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MASH市场：中国尚处“无获批标签”阶段，全球已进入药物时代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MASH Marketed &amp; Near-term Products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98448"/>
            <a:ext cx="73152" cy="150876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63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EE0000"/>
                </a:solidFill>
              </a:rPr>
              <a:t>中国现状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804672" y="17739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0 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" y="22311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截至本报告日期，未见中国获批MASH适应症治疗药物；临床治疗仍以减重、控糖、控脂和生活方式为基础。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657600" y="129844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298448"/>
            <a:ext cx="73152" cy="1508760"/>
          </a:xfrm>
          <a:prstGeom prst="rect">
            <a:avLst/>
          </a:prstGeom>
          <a:solidFill>
            <a:srgbClr val="008800"/>
          </a:solidFill>
          <a:ln w="12700">
            <a:solidFill>
              <a:srgbClr val="00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1463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8800"/>
                </a:solidFill>
              </a:rPr>
              <a:t>全球已上市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3822192" y="17739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2 个关键标签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22192" y="22311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resmetirom已在美国/欧盟获批；semaglutide 2.4mg在美国获批MASH适应症。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675120" y="129844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298448"/>
            <a:ext cx="73152" cy="150876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1463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E47C"/>
                </a:solidFill>
              </a:rPr>
              <a:t>BI资产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6839712" y="17739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survodutide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39712" y="22311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MASH II期显示组织学改善信号，将进入III期；可承接肥胖与肝病价值叙事。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692640" y="1298448"/>
            <a:ext cx="1874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1298448"/>
            <a:ext cx="73152" cy="1508760"/>
          </a:xfrm>
          <a:prstGeom prst="rect">
            <a:avLst/>
          </a:prstGeom>
          <a:solidFill>
            <a:srgbClr val="F58A68"/>
          </a:solidFill>
          <a:ln w="12700">
            <a:solidFill>
              <a:srgbClr val="F58A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7232" y="1463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58A68"/>
                </a:solidFill>
              </a:rPr>
              <a:t>商业难点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9857232" y="17739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诊断链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57232" y="22311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患者识别、分层和支付路径仍未成熟。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40080" y="3200400"/>
            <a:ext cx="1828800" cy="329184"/>
          </a:xfrm>
          <a:prstGeom prst="rect">
            <a:avLst/>
          </a:prstGeom>
          <a:solidFill>
            <a:srgbClr val="008800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2369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产品/企业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468880" y="3200400"/>
            <a:ext cx="1508760" cy="329184"/>
          </a:xfrm>
          <a:prstGeom prst="rect">
            <a:avLst/>
          </a:prstGeom>
          <a:solidFill>
            <a:srgbClr val="008800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32369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机制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977640" y="3200400"/>
            <a:ext cx="2331720" cy="329184"/>
          </a:xfrm>
          <a:prstGeom prst="rect">
            <a:avLst/>
          </a:prstGeom>
          <a:solidFill>
            <a:srgbClr val="008800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2369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全球状态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309360" y="3200400"/>
            <a:ext cx="4709160" cy="329184"/>
          </a:xfrm>
          <a:prstGeom prst="rect">
            <a:avLst/>
          </a:prstGeom>
          <a:solidFill>
            <a:srgbClr val="008800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236976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中国三年窗口判断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40080" y="3529584"/>
            <a:ext cx="1828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Rezdiffra / Madrigal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2468880" y="3529584"/>
            <a:ext cx="15087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3566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THR-β激动剂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3977640" y="3529584"/>
            <a:ext cx="23317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3566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美国加速批准；欧盟条件批准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6309360" y="3529584"/>
            <a:ext cx="4709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5661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若启动中国注册，有望成为MASH标签教育锚点；当前未见中国获批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640080" y="3968496"/>
            <a:ext cx="182880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0050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Wegovy / 诺和诺德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2468880" y="3968496"/>
            <a:ext cx="150876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14600" y="40050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GLP-1RA 2.4mg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3977640" y="3968496"/>
            <a:ext cx="233172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4005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美国获批MASH F2-F3成人适应症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6309360" y="3968496"/>
            <a:ext cx="470916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00507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中国已有减重标签，MASH标签扩展需中国注册策略与数据支持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640080" y="4407408"/>
            <a:ext cx="1828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4439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survodutide / BI-Zealand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2468880" y="4407408"/>
            <a:ext cx="15087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14600" y="44439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GCG/GLP-1双激动剂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3977640" y="4407408"/>
            <a:ext cx="23317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0" y="44439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MASH II期阳性，计划III期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6309360" y="4407408"/>
            <a:ext cx="4709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444398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最相关的BI机会；三年内更现实是建立KOL、筛查和证据准备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640080" y="4846320"/>
            <a:ext cx="182880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4882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efruxifermin / Akero等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2468880" y="4846320"/>
            <a:ext cx="150876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14600" y="488289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FGF21类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3977640" y="4846320"/>
            <a:ext cx="233172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0" y="48828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全球III期/后期开发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6309360" y="4846320"/>
            <a:ext cx="470916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55080" y="488289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中国短期商业化不确定，作为机制竞争监测对象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640080" y="5285232"/>
            <a:ext cx="1828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" y="5321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玛仕度肽 / 信达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2468880" y="5285232"/>
            <a:ext cx="15087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14600" y="53218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GCG/GLP-1双激动剂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3977640" y="5285232"/>
            <a:ext cx="23317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23360" y="53218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中国减重/T2D已获批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6309360" y="5285232"/>
            <a:ext cx="4709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55080" y="5321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可借肝脂改善数据抢占MASLD/MASH前置心智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竞争者生态图 | 谁在影响处方、支付与患者旅程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Competitor Ecosystem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F7F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2704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F76"/>
                </a:solidFill>
              </a:rPr>
              <a:t>MNC疗效标杆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32688" y="18105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诺和诺德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礼来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417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E4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52704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E47C"/>
                </a:solidFill>
              </a:rPr>
              <a:t>国产创新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67328" y="18105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信达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恒瑞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银诺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先为达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417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F58A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52704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8A68"/>
                </a:solidFill>
              </a:rPr>
              <a:t>国产替代/类似药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601968" y="18105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华东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九源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石药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齐鲁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联邦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0" y="1417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8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152704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8800"/>
                </a:solidFill>
              </a:rPr>
              <a:t>MASH标签教育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436608" y="18105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Madrigal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诺和诺德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BI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4028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831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39959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312A"/>
                </a:solidFill>
              </a:rPr>
              <a:t>院内路径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50008" y="42793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内分泌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肝病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减重门诊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E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39959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E0000"/>
                </a:solidFill>
              </a:rPr>
              <a:t>院外路径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84648" y="42793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DTP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电商处方药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线上问诊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0956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8988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9288" y="39959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患者长期管理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19288" y="42793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小程序/App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复购提醒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D2F"/>
                </a:solidFill>
              </a:rPr>
              <a:t>生活方式干预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88920" y="1920240"/>
            <a:ext cx="868680" cy="0"/>
          </a:xfrm>
          <a:prstGeom prst="line">
            <a:avLst/>
          </a:prstGeom>
          <a:noFill/>
          <a:ln w="17780">
            <a:solidFill>
              <a:srgbClr val="DDDDD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623560" y="1920240"/>
            <a:ext cx="868680" cy="0"/>
          </a:xfrm>
          <a:prstGeom prst="line">
            <a:avLst/>
          </a:prstGeom>
          <a:noFill/>
          <a:ln w="17780">
            <a:solidFill>
              <a:srgbClr val="DDDDD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58200" y="1920240"/>
            <a:ext cx="868680" cy="0"/>
          </a:xfrm>
          <a:prstGeom prst="line">
            <a:avLst/>
          </a:prstGeom>
          <a:noFill/>
          <a:ln w="17780">
            <a:solidFill>
              <a:srgbClr val="DDDDD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00400" y="2423160"/>
            <a:ext cx="-274320" cy="1463040"/>
          </a:xfrm>
          <a:prstGeom prst="line">
            <a:avLst/>
          </a:prstGeom>
          <a:noFill/>
          <a:ln w="17780">
            <a:solidFill>
              <a:srgbClr val="DDDDDD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669280" y="2423160"/>
            <a:ext cx="0" cy="1463040"/>
          </a:xfrm>
          <a:prstGeom prst="line">
            <a:avLst/>
          </a:prstGeom>
          <a:noFill/>
          <a:ln w="17780">
            <a:solidFill>
              <a:srgbClr val="DDDDD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21040" y="2423160"/>
            <a:ext cx="182880" cy="1463040"/>
          </a:xfrm>
          <a:prstGeom prst="line">
            <a:avLst/>
          </a:prstGeom>
          <a:noFill/>
          <a:ln w="17780">
            <a:solidFill>
              <a:srgbClr val="DDDDD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206240" y="4389120"/>
            <a:ext cx="868680" cy="0"/>
          </a:xfrm>
          <a:prstGeom prst="line">
            <a:avLst/>
          </a:prstGeom>
          <a:noFill/>
          <a:ln w="17780">
            <a:solidFill>
              <a:srgbClr val="DDDDD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040880" y="4389120"/>
            <a:ext cx="868680" cy="0"/>
          </a:xfrm>
          <a:prstGeom prst="line">
            <a:avLst/>
          </a:prstGeom>
          <a:noFill/>
          <a:ln w="17780">
            <a:solidFill>
              <a:srgbClr val="DDDDDD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68680" y="5623560"/>
            <a:ext cx="102870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312A"/>
                </a:solidFill>
              </a:rPr>
              <a:t>生态判断：药品竞争正在被渠道和服务层放大。单纯产品上市不再足够，真正的护城河来自“筛查-处方-支付-复购-随访”的全链路控制。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已上市企业的Digital Solution | 从患者教育到处方复购闭环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Digital Solution Benchmark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1143000" cy="329184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0700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5" b="1" dirty="0">
                <a:solidFill>
                  <a:srgbClr val="FFFFFF"/>
                </a:solidFill>
              </a:rPr>
              <a:t>企业</a:t>
            </a:r>
            <a:endParaRPr lang="en-US" sz="655" dirty="0"/>
          </a:p>
        </p:txBody>
      </p:sp>
      <p:sp>
        <p:nvSpPr>
          <p:cNvPr id="10" name="Shape 8"/>
          <p:cNvSpPr/>
          <p:nvPr/>
        </p:nvSpPr>
        <p:spPr>
          <a:xfrm>
            <a:off x="1645920" y="1170432"/>
            <a:ext cx="3703320" cy="329184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2070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5" b="1" dirty="0">
                <a:solidFill>
                  <a:srgbClr val="FFFFFF"/>
                </a:solidFill>
              </a:rPr>
              <a:t>公开可见数字化/渠道动作</a:t>
            </a:r>
            <a:endParaRPr lang="en-US" sz="655" dirty="0"/>
          </a:p>
        </p:txBody>
      </p:sp>
      <p:sp>
        <p:nvSpPr>
          <p:cNvPr id="12" name="Shape 10"/>
          <p:cNvSpPr/>
          <p:nvPr/>
        </p:nvSpPr>
        <p:spPr>
          <a:xfrm>
            <a:off x="5349240" y="1170432"/>
            <a:ext cx="2560320" cy="329184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207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5" b="1" dirty="0">
                <a:solidFill>
                  <a:srgbClr val="FFFFFF"/>
                </a:solidFill>
              </a:rPr>
              <a:t>功能定位</a:t>
            </a:r>
            <a:endParaRPr lang="en-US" sz="655" dirty="0"/>
          </a:p>
        </p:txBody>
      </p:sp>
      <p:sp>
        <p:nvSpPr>
          <p:cNvPr id="14" name="Shape 12"/>
          <p:cNvSpPr/>
          <p:nvPr/>
        </p:nvSpPr>
        <p:spPr>
          <a:xfrm>
            <a:off x="7909560" y="1170432"/>
            <a:ext cx="3886200" cy="329184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2070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5" b="1" dirty="0">
                <a:solidFill>
                  <a:srgbClr val="FFFFFF"/>
                </a:solidFill>
              </a:rPr>
              <a:t>BI可借鉴点</a:t>
            </a:r>
            <a:endParaRPr lang="en-US" sz="655" dirty="0"/>
          </a:p>
        </p:txBody>
      </p:sp>
      <p:sp>
        <p:nvSpPr>
          <p:cNvPr id="16" name="Shape 14"/>
          <p:cNvSpPr/>
          <p:nvPr/>
        </p:nvSpPr>
        <p:spPr>
          <a:xfrm>
            <a:off x="502920" y="1499616"/>
            <a:ext cx="114300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536192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诺和诺德</a:t>
            </a:r>
            <a:endParaRPr lang="en-US" sz="635" dirty="0"/>
          </a:p>
        </p:txBody>
      </p:sp>
      <p:sp>
        <p:nvSpPr>
          <p:cNvPr id="18" name="Shape 16"/>
          <p:cNvSpPr/>
          <p:nvPr/>
        </p:nvSpPr>
        <p:spPr>
          <a:xfrm>
            <a:off x="1645920" y="1499616"/>
            <a:ext cx="37033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53619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“诺和关怀”小程序/App；诺和盈专属版；与京东健康、方舟健客等互联网医疗/电商渠道合作</a:t>
            </a:r>
            <a:endParaRPr lang="en-US" sz="635" dirty="0"/>
          </a:p>
        </p:txBody>
      </p:sp>
      <p:sp>
        <p:nvSpPr>
          <p:cNvPr id="20" name="Shape 18"/>
          <p:cNvSpPr/>
          <p:nvPr/>
        </p:nvSpPr>
        <p:spPr>
          <a:xfrm>
            <a:off x="5349240" y="1499616"/>
            <a:ext cx="25603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5361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患者教育、血糖/设备连接、生活方式管理、慢病随访、线上触达</a:t>
            </a:r>
            <a:endParaRPr lang="en-US" sz="635" dirty="0"/>
          </a:p>
        </p:txBody>
      </p:sp>
      <p:sp>
        <p:nvSpPr>
          <p:cNvPr id="22" name="Shape 20"/>
          <p:cNvSpPr/>
          <p:nvPr/>
        </p:nvSpPr>
        <p:spPr>
          <a:xfrm>
            <a:off x="7909560" y="1499616"/>
            <a:ext cx="388620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153619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最接近“药品+服务”闭环；可参考慢病管理平台化打法</a:t>
            </a:r>
            <a:endParaRPr lang="en-US" sz="635" dirty="0"/>
          </a:p>
        </p:txBody>
      </p:sp>
      <p:sp>
        <p:nvSpPr>
          <p:cNvPr id="24" name="Shape 22"/>
          <p:cNvSpPr/>
          <p:nvPr/>
        </p:nvSpPr>
        <p:spPr>
          <a:xfrm>
            <a:off x="502920" y="2121408"/>
            <a:ext cx="1143000" cy="56692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157984"/>
            <a:ext cx="10515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礼来</a:t>
            </a:r>
            <a:endParaRPr lang="en-US" sz="635" dirty="0"/>
          </a:p>
        </p:txBody>
      </p:sp>
      <p:sp>
        <p:nvSpPr>
          <p:cNvPr id="26" name="Shape 24"/>
          <p:cNvSpPr/>
          <p:nvPr/>
        </p:nvSpPr>
        <p:spPr>
          <a:xfrm>
            <a:off x="1645920" y="2121408"/>
            <a:ext cx="3703320" cy="56692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2157984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企业官网、疾病教育、患者支持与线上信息服务；全球LillyDirect提供直达患者经验</a:t>
            </a:r>
            <a:endParaRPr lang="en-US" sz="635" dirty="0"/>
          </a:p>
        </p:txBody>
      </p:sp>
      <p:sp>
        <p:nvSpPr>
          <p:cNvPr id="28" name="Shape 26"/>
          <p:cNvSpPr/>
          <p:nvPr/>
        </p:nvSpPr>
        <p:spPr>
          <a:xfrm>
            <a:off x="5349240" y="2121408"/>
            <a:ext cx="2560320" cy="56692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2157984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品牌教育、用药信息、患者服务；中国需关注合规下本土化</a:t>
            </a:r>
            <a:endParaRPr lang="en-US" sz="635" dirty="0"/>
          </a:p>
        </p:txBody>
      </p:sp>
      <p:sp>
        <p:nvSpPr>
          <p:cNvPr id="30" name="Shape 28"/>
          <p:cNvSpPr/>
          <p:nvPr/>
        </p:nvSpPr>
        <p:spPr>
          <a:xfrm>
            <a:off x="7909560" y="2121408"/>
            <a:ext cx="3886200" cy="56692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2157984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高疗效产品需配套数字化期望管理与不良反应管理</a:t>
            </a:r>
            <a:endParaRPr lang="en-US" sz="635" dirty="0"/>
          </a:p>
        </p:txBody>
      </p:sp>
      <p:sp>
        <p:nvSpPr>
          <p:cNvPr id="32" name="Shape 30"/>
          <p:cNvSpPr/>
          <p:nvPr/>
        </p:nvSpPr>
        <p:spPr>
          <a:xfrm>
            <a:off x="502920" y="2688336"/>
            <a:ext cx="11430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724912"/>
            <a:ext cx="10515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信达生物</a:t>
            </a:r>
            <a:endParaRPr lang="en-US" sz="635" dirty="0"/>
          </a:p>
        </p:txBody>
      </p:sp>
      <p:sp>
        <p:nvSpPr>
          <p:cNvPr id="34" name="Shape 32"/>
          <p:cNvSpPr/>
          <p:nvPr/>
        </p:nvSpPr>
        <p:spPr>
          <a:xfrm>
            <a:off x="1645920" y="2688336"/>
            <a:ext cx="3703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2724912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玛仕度肽商业化中强调零售/线上平台和连锁药房合作，老百姓大药房等代谢疾病管理探索</a:t>
            </a:r>
            <a:endParaRPr lang="en-US" sz="635" dirty="0"/>
          </a:p>
        </p:txBody>
      </p:sp>
      <p:sp>
        <p:nvSpPr>
          <p:cNvPr id="36" name="Shape 34"/>
          <p:cNvSpPr/>
          <p:nvPr/>
        </p:nvSpPr>
        <p:spPr>
          <a:xfrm>
            <a:off x="5349240" y="2688336"/>
            <a:ext cx="2560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272491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减重患者获取、院外可及、药房服务、慢病复购</a:t>
            </a:r>
            <a:endParaRPr lang="en-US" sz="635" dirty="0"/>
          </a:p>
        </p:txBody>
      </p:sp>
      <p:sp>
        <p:nvSpPr>
          <p:cNvPr id="38" name="Shape 36"/>
          <p:cNvSpPr/>
          <p:nvPr/>
        </p:nvSpPr>
        <p:spPr>
          <a:xfrm>
            <a:off x="7909560" y="2688336"/>
            <a:ext cx="3886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724912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国产创新药会用渠道速度抢占患者触点</a:t>
            </a:r>
            <a:endParaRPr lang="en-US" sz="635" dirty="0"/>
          </a:p>
        </p:txBody>
      </p:sp>
      <p:sp>
        <p:nvSpPr>
          <p:cNvPr id="40" name="Shape 38"/>
          <p:cNvSpPr/>
          <p:nvPr/>
        </p:nvSpPr>
        <p:spPr>
          <a:xfrm>
            <a:off x="502920" y="3255264"/>
            <a:ext cx="1143000" cy="56692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91840"/>
            <a:ext cx="10515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华东医药</a:t>
            </a:r>
            <a:endParaRPr lang="en-US" sz="635" dirty="0"/>
          </a:p>
        </p:txBody>
      </p:sp>
      <p:sp>
        <p:nvSpPr>
          <p:cNvPr id="42" name="Shape 40"/>
          <p:cNvSpPr/>
          <p:nvPr/>
        </p:nvSpPr>
        <p:spPr>
          <a:xfrm>
            <a:off x="1645920" y="3255264"/>
            <a:ext cx="3703320" cy="56692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91640" y="3291840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利鲁平与阿里健康线上首发/合作，探索科普患教、在线诊疗、数字化患者管理</a:t>
            </a:r>
            <a:endParaRPr lang="en-US" sz="635" dirty="0"/>
          </a:p>
        </p:txBody>
      </p:sp>
      <p:sp>
        <p:nvSpPr>
          <p:cNvPr id="44" name="Shape 42"/>
          <p:cNvSpPr/>
          <p:nvPr/>
        </p:nvSpPr>
        <p:spPr>
          <a:xfrm>
            <a:off x="5349240" y="3255264"/>
            <a:ext cx="2560320" cy="56692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3291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低门槛可及、线上购药、患者教育</a:t>
            </a:r>
            <a:endParaRPr lang="en-US" sz="635" dirty="0"/>
          </a:p>
        </p:txBody>
      </p:sp>
      <p:sp>
        <p:nvSpPr>
          <p:cNvPr id="46" name="Shape 44"/>
          <p:cNvSpPr/>
          <p:nvPr/>
        </p:nvSpPr>
        <p:spPr>
          <a:xfrm>
            <a:off x="7909560" y="3255264"/>
            <a:ext cx="3886200" cy="56692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5280" y="3291840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价格型竞争者会通过平台转化压缩MNC优势</a:t>
            </a:r>
            <a:endParaRPr lang="en-US" sz="635" dirty="0"/>
          </a:p>
        </p:txBody>
      </p:sp>
      <p:sp>
        <p:nvSpPr>
          <p:cNvPr id="48" name="Shape 46"/>
          <p:cNvSpPr/>
          <p:nvPr/>
        </p:nvSpPr>
        <p:spPr>
          <a:xfrm>
            <a:off x="502920" y="3822192"/>
            <a:ext cx="11430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858768"/>
            <a:ext cx="10515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银诺医药</a:t>
            </a:r>
            <a:endParaRPr lang="en-US" sz="635" dirty="0"/>
          </a:p>
        </p:txBody>
      </p:sp>
      <p:sp>
        <p:nvSpPr>
          <p:cNvPr id="50" name="Shape 48"/>
          <p:cNvSpPr/>
          <p:nvPr/>
        </p:nvSpPr>
        <p:spPr>
          <a:xfrm>
            <a:off x="1645920" y="3822192"/>
            <a:ext cx="3703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91640" y="3858768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依苏帕格鲁肽与京东大药房等数智化合作案例；医保后可及路径加速</a:t>
            </a:r>
            <a:endParaRPr lang="en-US" sz="635" dirty="0"/>
          </a:p>
        </p:txBody>
      </p:sp>
      <p:sp>
        <p:nvSpPr>
          <p:cNvPr id="52" name="Shape 50"/>
          <p:cNvSpPr/>
          <p:nvPr/>
        </p:nvSpPr>
        <p:spPr>
          <a:xfrm>
            <a:off x="5349240" y="3822192"/>
            <a:ext cx="2560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3858768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创新药线上可及、患者服务、疾病科普</a:t>
            </a:r>
            <a:endParaRPr lang="en-US" sz="635" dirty="0"/>
          </a:p>
        </p:txBody>
      </p:sp>
      <p:sp>
        <p:nvSpPr>
          <p:cNvPr id="54" name="Shape 52"/>
          <p:cNvSpPr/>
          <p:nvPr/>
        </p:nvSpPr>
        <p:spPr>
          <a:xfrm>
            <a:off x="7909560" y="3822192"/>
            <a:ext cx="3886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0" y="3858768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35" dirty="0">
                <a:solidFill>
                  <a:srgbClr val="222D2F"/>
                </a:solidFill>
              </a:rPr>
              <a:t>医保+互联网药房的放量节奏需持续监测</a:t>
            </a:r>
            <a:endParaRPr lang="en-US" sz="635" dirty="0"/>
          </a:p>
        </p:txBody>
      </p:sp>
      <p:sp>
        <p:nvSpPr>
          <p:cNvPr id="56" name="Text 54"/>
          <p:cNvSpPr/>
          <p:nvPr/>
        </p:nvSpPr>
        <p:spPr>
          <a:xfrm>
            <a:off x="685800" y="568756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8312A"/>
                </a:solidFill>
              </a:rPr>
              <a:t>BI数字化机会：围绕MASH/肥胖高危人群建立“风险评估、肝脂/纤维化筛查提醒、体重与代谢指标追踪、医生复诊/药房复购承接”的合规服务层。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中国医保策略 | GLP-1已进入“控费放量”，MASH仍需先建价值证明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NRDL &amp; Payment Strategy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3232" y="126187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261872"/>
            <a:ext cx="73152" cy="1371600"/>
          </a:xfrm>
          <a:prstGeom prst="rect">
            <a:avLst/>
          </a:prstGeom>
          <a:solidFill>
            <a:srgbClr val="1F7F76"/>
          </a:solidFill>
          <a:ln w="12700">
            <a:solidFill>
              <a:srgbClr val="1F7F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42646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7F76"/>
                </a:solidFill>
              </a:rPr>
              <a:t>医保覆盖逻辑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877824" y="17373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T2D优先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司美格鲁肽注射液、替尔泊肽、依苏帕格鲁肽α等进入医保时主要限定T2D；减重适应症通常不覆盖。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703320" y="126187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261872"/>
            <a:ext cx="73152" cy="1371600"/>
          </a:xfrm>
          <a:prstGeom prst="rect">
            <a:avLst/>
          </a:prstGeom>
          <a:solidFill>
            <a:srgbClr val="F58A68"/>
          </a:solidFill>
          <a:ln w="12700">
            <a:solidFill>
              <a:srgbClr val="F58A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912" y="142646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58A68"/>
                </a:solidFill>
              </a:rPr>
              <a:t>减重支付逻辑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3867912" y="17373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自费/商保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67912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长期体重管理更接近消费医疗+慢病服务混合场景，支付敏感度高，渠道和服务影响转化。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693408" y="126187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3408" y="1261872"/>
            <a:ext cx="73152" cy="1371600"/>
          </a:xfrm>
          <a:prstGeom prst="rect">
            <a:avLst/>
          </a:prstGeom>
          <a:solidFill>
            <a:srgbClr val="008800"/>
          </a:solidFill>
          <a:ln w="12700">
            <a:solidFill>
              <a:srgbClr val="008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42646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8800"/>
                </a:solidFill>
              </a:rPr>
              <a:t>MASH支付逻辑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6858000" y="17373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未成熟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中国尚无获批MASH药物；未来医保需要证明纤维化改善能降低肝硬化、移植和心代谢事件负担。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692640" y="1261872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1261872"/>
            <a:ext cx="73152" cy="13716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7232" y="142646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E47C"/>
                </a:solidFill>
              </a:rPr>
              <a:t>商保创新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9857232" y="17373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D2F"/>
                </a:solidFill>
              </a:rPr>
              <a:t>补位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57232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98885"/>
                </a:solidFill>
              </a:rPr>
              <a:t>首版商保创新药目录提供新的价格/准入叙事空间。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5800" y="3246120"/>
            <a:ext cx="1463040" cy="329184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282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策略问题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148840" y="3246120"/>
            <a:ext cx="2743200" cy="329184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32826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GLP-1/T2D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92040" y="3246120"/>
            <a:ext cx="2743200" cy="329184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2826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GLP-1/减重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635240" y="3246120"/>
            <a:ext cx="3657600" cy="329184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32826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MASH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5800" y="3575304"/>
            <a:ext cx="14630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准入目标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2148840" y="3575304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进入NRDL、院内覆盖、慢病处方连续性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4892040" y="3575304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院外可及、商保、体重管理中心套餐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7635240" y="3575304"/>
            <a:ext cx="3657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先完成标签教育与诊断分层，再谈支付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685800" y="4014216"/>
            <a:ext cx="146304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0507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证据重点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2148840" y="4014216"/>
            <a:ext cx="274320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4050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HbA1c、体重、低血糖、心肾获益、真实世界依从性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4892040" y="4014216"/>
            <a:ext cx="274320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4050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体重降幅、维持、合并症改善、安全性与长期服务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7635240" y="4014216"/>
            <a:ext cx="3657600" cy="43891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MASH缓解、纤维化改善、非侵入检测、长期肝事件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685800" y="4453128"/>
            <a:ext cx="14630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489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价格压力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2148840" y="4453128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94560" y="44897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医保谈判和国产替代双重降价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4892040" y="4453128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44897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患者自付敏感；类似药会压缩溢价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7635240" y="4453128"/>
            <a:ext cx="3657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80960" y="44897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初期高价创新药 vs 医保价值证据不足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685800" y="4892040"/>
            <a:ext cx="1463040" cy="47548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49286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BI动作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2148840" y="4892040"/>
            <a:ext cx="2743200" cy="47548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94560" y="492861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避免卷入泛T2D红海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4892040" y="4892040"/>
            <a:ext cx="2743200" cy="47548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37760" y="492861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以肝脏和心代谢高危人群建立差异化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7635240" y="4892040"/>
            <a:ext cx="3657600" cy="475488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80960" y="492861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提前布局经济学模型、筛查路径和真实世界证据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对BI的战略含义 | survodutide需要提前占位“代谢肝病”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Strategic Implications for BI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24231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F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F76"/>
                </a:solidFill>
              </a:rPr>
              <a:t>P0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2121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</a:rPr>
              <a:t>建立疾病框架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41832" y="265176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22D2F"/>
                </a:solidFill>
              </a:rPr>
              <a:t>把MASH与肥胖/T2D高危人群连接，避免被理解成单一减重药竞争。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1417320"/>
            <a:ext cx="24231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E4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47C"/>
                </a:solidFill>
              </a:rPr>
              <a:t>P1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30752" y="2121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</a:rPr>
              <a:t>打造筛查路径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30752" y="265176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22D2F"/>
                </a:solidFill>
              </a:rPr>
              <a:t>联合肝病、内分泌、体重管理中心，推动非侵入检测与转诊路径。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24231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800"/>
                </a:solidFill>
              </a:rPr>
              <a:t>P2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9672" y="2121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</a:rPr>
              <a:t>构建证据叙事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9672" y="265176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22D2F"/>
                </a:solidFill>
              </a:rPr>
              <a:t>从体重、肝脂、ALT/AST到纤维化指标，形成多终点价值阶梯。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0" y="1417320"/>
            <a:ext cx="24231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8A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8A68"/>
                </a:solidFill>
              </a:rPr>
              <a:t>P3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08592" y="2121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</a:rPr>
              <a:t>设计数字闭环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08592" y="265176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22D2F"/>
                </a:solidFill>
              </a:rPr>
              <a:t>风险测评、复诊提醒、生活方式跟踪、药房复购与KOL内容矩阵。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60120" y="5074920"/>
            <a:ext cx="10195560" cy="621792"/>
          </a:xfrm>
          <a:prstGeom prst="rect">
            <a:avLst/>
          </a:prstGeom>
          <a:solidFill>
            <a:srgbClr val="E8FFF2"/>
          </a:solidFill>
          <a:ln w="12700">
            <a:solidFill>
              <a:srgbClr val="008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5276088"/>
            <a:ext cx="9784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312A"/>
                </a:solidFill>
              </a:rPr>
              <a:t>建议定位：不是“又一个GLP-1减重药”，而是面向肥胖/T2D合并肝脏风险人群的代谢器官保护方案。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12个月市场情报与营销准备路线图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Commercial Readiness Roadmap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1234440" cy="365760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6245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阶段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1920240" y="1325880"/>
            <a:ext cx="2926080" cy="365760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3624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重点问题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4160520" cy="365760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6245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关键动作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9006840" y="1325880"/>
            <a:ext cx="2743200" cy="365760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362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输出物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685800" y="1691640"/>
            <a:ext cx="12344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728216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0-3个月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920240" y="1691640"/>
            <a:ext cx="29260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172821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竞品上市与价格变化如何影响医生心智？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0" y="1691640"/>
            <a:ext cx="41605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728216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建立GLP-1/MASH竞品watchlist；跟踪NMPA/CDE、NRDL、渠道价格、电商可及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9006840" y="1691640"/>
            <a:ext cx="27432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7282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月度竞争情报简报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85800" y="2404872"/>
            <a:ext cx="1234440" cy="71323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441448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3-6个月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1920240" y="2404872"/>
            <a:ext cx="2926080" cy="71323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244144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哪些患者最能承接survodutide价值？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846320" y="2404872"/>
            <a:ext cx="4160520" cy="71323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4144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定义肥胖/T2D/MASLD高危分层；访谈肝病/内分泌KOL；梳理筛查路径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006840" y="2404872"/>
            <a:ext cx="2743200" cy="71323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244144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患者旅程与目标科室地图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85800" y="3118104"/>
            <a:ext cx="12344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1546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6-9个月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920240" y="3118104"/>
            <a:ext cx="29260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65960" y="3154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数字化闭环如何落地？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4846320" y="3118104"/>
            <a:ext cx="41605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15468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设计风险测评、复诊提醒、生活方式管理、药房承接和合规内容矩阵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9006840" y="3118104"/>
            <a:ext cx="27432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3154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Digital solution MVP蓝图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685800" y="3831336"/>
            <a:ext cx="1234440" cy="71323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3867912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9-12个月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1920240" y="3831336"/>
            <a:ext cx="2926080" cy="71323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5960" y="386791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未来医保/商保如何论证？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846320" y="3831336"/>
            <a:ext cx="4160520" cy="71323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86791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准备MASH经济学模型、真实世界证据框架、支付方价值故事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9006840" y="3831336"/>
            <a:ext cx="2743200" cy="713232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52560" y="386791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22D2F"/>
                </a:solidFill>
              </a:rPr>
              <a:t>准入价值信息包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777240" y="4919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</a:rPr>
              <a:t>优先监测清单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7240" y="5349240"/>
            <a:ext cx="3154680" cy="310896"/>
          </a:xfrm>
          <a:prstGeom prst="roundRect">
            <a:avLst>
              <a:gd name="adj" fmla="val 17647"/>
            </a:avLst>
          </a:prstGeom>
          <a:solidFill>
            <a:srgbClr val="1F7F76"/>
          </a:solidFill>
          <a:ln w="12700">
            <a:solidFill>
              <a:srgbClr val="1F7F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" y="5408676"/>
            <a:ext cx="30083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司美格鲁肽类似药首批批件与价格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4389120" y="5349240"/>
            <a:ext cx="3154680" cy="310896"/>
          </a:xfrm>
          <a:prstGeom prst="roundRect">
            <a:avLst>
              <a:gd name="adj" fmla="val 17647"/>
            </a:avLst>
          </a:prstGeom>
          <a:solidFill>
            <a:srgbClr val="F58A68"/>
          </a:solidFill>
          <a:ln w="12700">
            <a:solidFill>
              <a:srgbClr val="F58A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62272" y="5408676"/>
            <a:ext cx="30083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HRS9531审批节奏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8001000" y="5349240"/>
            <a:ext cx="3154680" cy="310896"/>
          </a:xfrm>
          <a:prstGeom prst="roundRect">
            <a:avLst>
              <a:gd name="adj" fmla="val 17647"/>
            </a:avLst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74152" y="5408676"/>
            <a:ext cx="30083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玛仕度肽渠道与医保路径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777240" y="5788152"/>
            <a:ext cx="3154680" cy="310896"/>
          </a:xfrm>
          <a:prstGeom prst="roundRect">
            <a:avLst>
              <a:gd name="adj" fmla="val 17647"/>
            </a:avLst>
          </a:prstGeom>
          <a:solidFill>
            <a:srgbClr val="008800"/>
          </a:solidFill>
          <a:ln w="12700">
            <a:solidFill>
              <a:srgbClr val="0088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" y="5847588"/>
            <a:ext cx="30083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诺和诺德MASH标签中国策略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4389120" y="5788152"/>
            <a:ext cx="3154680" cy="310896"/>
          </a:xfrm>
          <a:prstGeom prst="roundRect">
            <a:avLst>
              <a:gd name="adj" fmla="val 17647"/>
            </a:avLst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62272" y="5847588"/>
            <a:ext cx="30083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BI survodutide全球III期/中国注册进展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附录A | 关键事实与来源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Selected Sources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417320" cy="347472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710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主题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2011680" y="1234440"/>
            <a:ext cx="3657600" cy="347472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2710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关键事实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669280" y="1234440"/>
            <a:ext cx="6080760" cy="347472"/>
          </a:xfrm>
          <a:prstGeom prst="rect">
            <a:avLst/>
          </a:prstGeom>
          <a:solidFill>
            <a:srgbClr val="08312A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271016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公开来源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594360" y="1581912"/>
            <a:ext cx="141732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618488"/>
            <a:ext cx="132588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中国GLP-1获批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2011680" y="1581912"/>
            <a:ext cx="36576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1618488"/>
            <a:ext cx="356616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Wegovy/诺和盈中国获批长期体重管理；替尔泊肽中国获批T2D与体重管理；玛仕度肽2025获批</a:t>
            </a:r>
            <a:endParaRPr lang="en-US" sz="660" dirty="0"/>
          </a:p>
        </p:txBody>
      </p:sp>
      <p:sp>
        <p:nvSpPr>
          <p:cNvPr id="18" name="Shape 16"/>
          <p:cNvSpPr/>
          <p:nvPr/>
        </p:nvSpPr>
        <p:spPr>
          <a:xfrm>
            <a:off x="5669280" y="1581912"/>
            <a:ext cx="608076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618488"/>
            <a:ext cx="598932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Novo Nordisk/Reuters/CNBC；Lilly/媒体；Innovent PR；NMPA/中国经济网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594360" y="2176272"/>
            <a:ext cx="1417320" cy="54864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21284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国产创新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2011680" y="2176272"/>
            <a:ext cx="3657600" cy="54864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22128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依苏帕格鲁肽α、埃诺格鲁肽等国产GLP-1获批T2D；HRS9531等后期项目申报</a:t>
            </a:r>
            <a:endParaRPr lang="en-US" sz="660" dirty="0"/>
          </a:p>
        </p:txBody>
      </p:sp>
      <p:sp>
        <p:nvSpPr>
          <p:cNvPr id="24" name="Shape 22"/>
          <p:cNvSpPr/>
          <p:nvPr/>
        </p:nvSpPr>
        <p:spPr>
          <a:xfrm>
            <a:off x="5669280" y="2176272"/>
            <a:ext cx="6080760" cy="54864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212848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银诺医药；中国食品药品网；CDE/企业公告/财经媒体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594360" y="2724912"/>
            <a:ext cx="1417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76148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MASH全球状态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2011680" y="2724912"/>
            <a:ext cx="36576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57400" y="27614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Rezdiffra美国/欧盟获批；Wegovy美国获批MASH；survodutide MASH II期结果积极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669280" y="2724912"/>
            <a:ext cx="608076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761488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FDA；EMA；NEJM；BI/Zealand公告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594360" y="3273552"/>
            <a:ext cx="1417320" cy="54864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31012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医保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2011680" y="3273552"/>
            <a:ext cx="3657600" cy="54864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33101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GLP-1医保覆盖以T2D为主；减重通常不在基本医保支付范围；商保创新药目录补位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5669280" y="3273552"/>
            <a:ext cx="6080760" cy="54864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3310128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国家医保局；医保目录查询；行业媒体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594360" y="3822192"/>
            <a:ext cx="1417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85876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数字化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2011680" y="3822192"/>
            <a:ext cx="36576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57400" y="38587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诺和关怀小程序/App、互联网医疗/电商渠道合作；国产企业与药房/平台共建患者服务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5669280" y="3822192"/>
            <a:ext cx="608076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3858768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22D2F"/>
                </a:solidFill>
              </a:rPr>
              <a:t>PRNewswire；App Store；京东/方舟健客/阿里健康/老百姓大药房相关报道</a:t>
            </a:r>
            <a:endParaRPr lang="en-US" sz="660" dirty="0"/>
          </a:p>
        </p:txBody>
      </p:sp>
      <p:sp>
        <p:nvSpPr>
          <p:cNvPr id="44" name="Text 42"/>
          <p:cNvSpPr/>
          <p:nvPr/>
        </p:nvSpPr>
        <p:spPr>
          <a:xfrm>
            <a:off x="685800" y="5257800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E0000"/>
                </a:solidFill>
              </a:rPr>
              <a:t>重要说明：未来三年上市窗口为基于公开注册进展、全球临床阶段和同类审批周期的商业研判，不构成监管确定性预测。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47C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</a:rPr>
              <a:t>附录B | 产品清单速览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</a:rPr>
              <a:t>Product Detail Snapshot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98885"/>
                </a:solidFill>
              </a:rPr>
              <a:t>Boehringer 2026 Ref     |     ONLY FOR INTERNAL USE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98885"/>
                </a:solidFill>
              </a:rPr>
              <a:t>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1234440" cy="347472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624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领域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28800" y="1325880"/>
            <a:ext cx="4572000" cy="347472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36245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已上市/已获批（中国）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400800" y="1325880"/>
            <a:ext cx="3063240" cy="347472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36245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未来三年高关注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464040" y="1325880"/>
            <a:ext cx="2331720" cy="347472"/>
          </a:xfrm>
          <a:prstGeom prst="rect">
            <a:avLst/>
          </a:prstGeom>
          <a:solidFill>
            <a:srgbClr val="00E47C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0" y="136245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BI解读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94360" y="1673352"/>
            <a:ext cx="12344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709928"/>
            <a:ext cx="114300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GLP-1 / T2D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1828800" y="1673352"/>
            <a:ext cx="457200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1709928"/>
            <a:ext cx="448056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司美格鲁肽注射/片、替尔泊肽、度拉糖肽、利拉鲁肽、洛塞那肽、贝那鲁肽、依苏帕格鲁肽α、埃诺格鲁肽、玛仕度肽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6400800" y="1673352"/>
            <a:ext cx="30632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09928"/>
            <a:ext cx="297180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司美格鲁肽类似药、HRS9531、更多双/三靶点与口服GLP-1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9464040" y="1673352"/>
            <a:ext cx="233172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1709928"/>
            <a:ext cx="224028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医保与国产替代将压低价格，差异化必须超越降糖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594360" y="2633472"/>
            <a:ext cx="1234440" cy="96012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70048"/>
            <a:ext cx="114300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GLP-1 / 肥胖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1828800" y="2633472"/>
            <a:ext cx="4572000" cy="96012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2670048"/>
            <a:ext cx="448056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司美格鲁肽2.4mg、替尔泊肽、利拉鲁肽、玛仕度肽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3063240" cy="96012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670048"/>
            <a:ext cx="297180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survodutide、HRS9531、司美格鲁肽类似药减重标签、口服/复方产品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9464040" y="2633472"/>
            <a:ext cx="2331720" cy="960120"/>
          </a:xfrm>
          <a:prstGeom prst="rect">
            <a:avLst/>
          </a:prstGeom>
          <a:solidFill>
            <a:srgbClr val="FAF9F8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0" y="2670048"/>
            <a:ext cx="224028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商业化重点在自费、商保、院外与长期管理服务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94360" y="3593592"/>
            <a:ext cx="12344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630168"/>
            <a:ext cx="114300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MASH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1828800" y="3593592"/>
            <a:ext cx="457200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74520" y="3630168"/>
            <a:ext cx="448056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中国暂无MASH适应症获批药物；全球有resmetirom与semaglutide 2.4mg标签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6400800" y="3593592"/>
            <a:ext cx="30632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630168"/>
            <a:ext cx="297180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survodutide、resmetirom中国策略、semaglutide MASH中国标签扩展、FGF21等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9464040" y="3593592"/>
            <a:ext cx="233172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3630168"/>
            <a:ext cx="2240280" cy="8869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22D2F"/>
                </a:solidFill>
              </a:rPr>
              <a:t>先做疾病教育、筛查和价值论证，再等待标签放量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685800" y="4937760"/>
            <a:ext cx="10561320" cy="731520"/>
          </a:xfrm>
          <a:prstGeom prst="rect">
            <a:avLst/>
          </a:prstGeom>
          <a:solidFill>
            <a:srgbClr val="F5FB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5175504"/>
            <a:ext cx="10149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312A"/>
                </a:solidFill>
              </a:rPr>
              <a:t>结论：短期竞争看GLP-1红海与支付能力，中期差异化看MASH/肝脏获益，长期胜负看真实世界管理闭环。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Boehringer Ingelheim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GLP-1/MASH 中国市场分析报告</dc:title>
  <dc:subject>GLP-1/MASH China market analysis</dc:subject>
  <dc:creator>OpenAI Codex</dc:creator>
  <cp:lastModifiedBy>OpenAI Codex</cp:lastModifiedBy>
  <cp:revision>1</cp:revision>
  <dcterms:created xsi:type="dcterms:W3CDTF">2026-05-25T07:21:29Z</dcterms:created>
  <dcterms:modified xsi:type="dcterms:W3CDTF">2026-05-25T07:21:29Z</dcterms:modified>
</cp:coreProperties>
</file>