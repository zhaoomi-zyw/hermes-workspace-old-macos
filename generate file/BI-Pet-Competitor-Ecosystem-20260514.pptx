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68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6" r:id="rId12"/>
    <p:sldId id="269" r:id="rId13"/>
    <p:sldId id="267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9" d="100"/>
          <a:sy n="119" d="100"/>
        </p:scale>
        <p:origin x="68" y="4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Zhao,Omi (IT INF) BII-CN-S" userId="2fec8dbb-20b3-4183-b30b-a97e8e1bad57" providerId="ADAL" clId="{14F18CE4-237A-4F6A-9C4F-D51DDFE91025}"/>
    <pc:docChg chg="delSld modSld">
      <pc:chgData name="Zhao,Omi (IT INF) BII-CN-S" userId="2fec8dbb-20b3-4183-b30b-a97e8e1bad57" providerId="ADAL" clId="{14F18CE4-237A-4F6A-9C4F-D51DDFE91025}" dt="2026-05-14T07:22:55.297" v="2" actId="47"/>
      <pc:docMkLst>
        <pc:docMk/>
      </pc:docMkLst>
      <pc:sldChg chg="modSp mod">
        <pc:chgData name="Zhao,Omi (IT INF) BII-CN-S" userId="2fec8dbb-20b3-4183-b30b-a97e8e1bad57" providerId="ADAL" clId="{14F18CE4-237A-4F6A-9C4F-D51DDFE91025}" dt="2026-05-14T07:21:58.038" v="1" actId="1076"/>
        <pc:sldMkLst>
          <pc:docMk/>
          <pc:sldMk cId="0" sldId="262"/>
        </pc:sldMkLst>
        <pc:spChg chg="mod">
          <ac:chgData name="Zhao,Omi (IT INF) BII-CN-S" userId="2fec8dbb-20b3-4183-b30b-a97e8e1bad57" providerId="ADAL" clId="{14F18CE4-237A-4F6A-9C4F-D51DDFE91025}" dt="2026-05-14T07:21:58.038" v="1" actId="1076"/>
          <ac:spMkLst>
            <pc:docMk/>
            <pc:sldMk cId="0" sldId="262"/>
            <ac:spMk id="27" creationId="{00000000-0000-0000-0000-000000000000}"/>
          </ac:spMkLst>
        </pc:spChg>
        <pc:spChg chg="mod">
          <ac:chgData name="Zhao,Omi (IT INF) BII-CN-S" userId="2fec8dbb-20b3-4183-b30b-a97e8e1bad57" providerId="ADAL" clId="{14F18CE4-237A-4F6A-9C4F-D51DDFE91025}" dt="2026-05-14T07:21:51.171" v="0" actId="1076"/>
          <ac:spMkLst>
            <pc:docMk/>
            <pc:sldMk cId="0" sldId="262"/>
            <ac:spMk id="28" creationId="{00000000-0000-0000-0000-000000000000}"/>
          </ac:spMkLst>
        </pc:spChg>
      </pc:sldChg>
      <pc:sldChg chg="del">
        <pc:chgData name="Zhao,Omi (IT INF) BII-CN-S" userId="2fec8dbb-20b3-4183-b30b-a97e8e1bad57" providerId="ADAL" clId="{14F18CE4-237A-4F6A-9C4F-D51DDFE91025}" dt="2026-05-14T07:22:55.297" v="2" actId="47"/>
        <pc:sldMkLst>
          <pc:docMk/>
          <pc:sldMk cId="0" sldId="265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168672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31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0E47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457200" y="123444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00E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 宠物竞争者生态 2026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21488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Boehringer Ingelheim Pet Competitor Ecosystem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2788920"/>
            <a:ext cx="3200400" cy="54864"/>
          </a:xfrm>
          <a:prstGeom prst="rect">
            <a:avLst/>
          </a:prstGeom>
          <a:solidFill>
            <a:srgbClr val="00E47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457200" y="29718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98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市场趋势 · 竞品动态 · BI对策 · 行业洞察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33832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3E5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最新情报：Q1全球财报 · 海正动保深度档案 · 行业标准实施 · 618备战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43434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98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数据截至：2026年5月13日  |  非官方披露数据仅供内部使用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132320" y="4251960"/>
            <a:ext cx="1645920" cy="502920"/>
          </a:xfrm>
          <a:prstGeom prst="rect">
            <a:avLst/>
          </a:prstGeom>
          <a:solidFill>
            <a:srgbClr val="00E47C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7132320" y="425196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 China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Pet Health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9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8312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E47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全球动保 Q1 2026 成绩单 | Global Pet Pharma Q1 2026 Scorecard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320040" y="804672"/>
            <a:ext cx="2057400" cy="283464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320040" y="804672"/>
            <a:ext cx="2057400" cy="457200"/>
          </a:xfrm>
          <a:prstGeom prst="rect">
            <a:avLst/>
          </a:prstGeom>
          <a:solidFill>
            <a:srgbClr val="A3E5E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411480" y="804672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硕腾 Zoetis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11480" y="1298448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23亿美元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11480" y="1645920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8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+3%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11480" y="192024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98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运营收入同比增3%，不及预期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320040" y="2240280"/>
            <a:ext cx="2057400" cy="9144"/>
          </a:xfrm>
          <a:prstGeom prst="rect">
            <a:avLst/>
          </a:prstGeom>
          <a:solidFill>
            <a:srgbClr val="DDDDDD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/>
          <p:cNvSpPr/>
          <p:nvPr/>
        </p:nvSpPr>
        <p:spPr>
          <a:xfrm>
            <a:off x="411480" y="2286000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08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▲ 国际+17% · 诊断+10%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411480" y="2834640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 美国伴侣动物-11%，股价大跌10%+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2514600" y="804672"/>
            <a:ext cx="2057400" cy="283464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5" name="Shape 13"/>
          <p:cNvSpPr/>
          <p:nvPr/>
        </p:nvSpPr>
        <p:spPr>
          <a:xfrm>
            <a:off x="2514600" y="804672"/>
            <a:ext cx="2057400" cy="457200"/>
          </a:xfrm>
          <a:prstGeom prst="rect">
            <a:avLst/>
          </a:prstGeom>
          <a:solidFill>
            <a:srgbClr val="C5C3E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4"/>
          <p:cNvSpPr/>
          <p:nvPr/>
        </p:nvSpPr>
        <p:spPr>
          <a:xfrm>
            <a:off x="2606040" y="804672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礼蓝 Elanco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606040" y="1298448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10.4亿美元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2606040" y="1645920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-3%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2606040" y="192024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98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营收同比下降3%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2514600" y="2240280"/>
            <a:ext cx="2057400" cy="9144"/>
          </a:xfrm>
          <a:prstGeom prst="rect">
            <a:avLst/>
          </a:prstGeom>
          <a:solidFill>
            <a:srgbClr val="DDDDDD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9"/>
          <p:cNvSpPr/>
          <p:nvPr/>
        </p:nvSpPr>
        <p:spPr>
          <a:xfrm>
            <a:off x="2606040" y="2286000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08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▲ Zenrelia/Credelio Quattro放量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2606040" y="2834640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 新兴市场承压，净负债33亿美元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709160" y="804672"/>
            <a:ext cx="2057400" cy="283464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4" name="Shape 22"/>
          <p:cNvSpPr/>
          <p:nvPr/>
        </p:nvSpPr>
        <p:spPr>
          <a:xfrm>
            <a:off x="4709160" y="804672"/>
            <a:ext cx="2057400" cy="457200"/>
          </a:xfrm>
          <a:prstGeom prst="rect">
            <a:avLst/>
          </a:prstGeom>
          <a:solidFill>
            <a:srgbClr val="F58A6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5" name="Text 23"/>
          <p:cNvSpPr/>
          <p:nvPr/>
        </p:nvSpPr>
        <p:spPr>
          <a:xfrm>
            <a:off x="4800600" y="804672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默沙东 MSD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800600" y="1298448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18亿美元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4800600" y="1645920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8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+13%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800600" y="192024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98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动物保健板块同比增13%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4709160" y="2240280"/>
            <a:ext cx="2057400" cy="9144"/>
          </a:xfrm>
          <a:prstGeom prst="rect">
            <a:avLst/>
          </a:prstGeom>
          <a:solidFill>
            <a:srgbClr val="DDDDDD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0" name="Text 28"/>
          <p:cNvSpPr/>
          <p:nvPr/>
        </p:nvSpPr>
        <p:spPr>
          <a:xfrm>
            <a:off x="4800600" y="2286000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08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▲ 多元化组合稳健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4800600" y="2834640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 宠物线相对平淡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6903720" y="804672"/>
            <a:ext cx="2057400" cy="283464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33" name="Shape 31"/>
          <p:cNvSpPr/>
          <p:nvPr/>
        </p:nvSpPr>
        <p:spPr>
          <a:xfrm>
            <a:off x="6903720" y="804672"/>
            <a:ext cx="2057400" cy="457200"/>
          </a:xfrm>
          <a:prstGeom prst="rect">
            <a:avLst/>
          </a:prstGeom>
          <a:solidFill>
            <a:srgbClr val="FFE66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4" name="Text 32"/>
          <p:cNvSpPr/>
          <p:nvPr/>
        </p:nvSpPr>
        <p:spPr>
          <a:xfrm>
            <a:off x="6995160" y="804672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维克 Virbac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995160" y="1298448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3.84亿欧元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6995160" y="1645920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8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+7.7%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6995160" y="192024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98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约4.14亿美元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6903720" y="2240280"/>
            <a:ext cx="2057400" cy="9144"/>
          </a:xfrm>
          <a:prstGeom prst="rect">
            <a:avLst/>
          </a:prstGeom>
          <a:solidFill>
            <a:srgbClr val="DDDDDD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9" name="Text 37"/>
          <p:cNvSpPr/>
          <p:nvPr/>
        </p:nvSpPr>
        <p:spPr>
          <a:xfrm>
            <a:off x="6995160" y="2286000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08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▲ 宠物+9.9% · 北美+20.7%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6995160" y="2834640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 欧洲增长温和+2%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320040" y="3749040"/>
            <a:ext cx="2743200" cy="914400"/>
          </a:xfrm>
          <a:prstGeom prst="rect">
            <a:avLst/>
          </a:prstGeom>
          <a:solidFill>
            <a:srgbClr val="08312A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42" name="Shape 40"/>
          <p:cNvSpPr/>
          <p:nvPr/>
        </p:nvSpPr>
        <p:spPr>
          <a:xfrm>
            <a:off x="320040" y="3749040"/>
            <a:ext cx="365760" cy="914400"/>
          </a:xfrm>
          <a:prstGeom prst="rect">
            <a:avLst/>
          </a:prstGeom>
          <a:solidFill>
            <a:srgbClr val="00E47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3" name="Text 41"/>
          <p:cNvSpPr/>
          <p:nvPr/>
        </p:nvSpPr>
        <p:spPr>
          <a:xfrm>
            <a:off x="320040" y="3749040"/>
            <a:ext cx="365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777240" y="382219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E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美国宠物市场消费降级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777240" y="4096512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硕腾美国伴侣动物-11%，宠物主人价格敏感度上升，兽医就诊次数减少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3246120" y="3749040"/>
            <a:ext cx="2743200" cy="914400"/>
          </a:xfrm>
          <a:prstGeom prst="rect">
            <a:avLst/>
          </a:prstGeom>
          <a:solidFill>
            <a:srgbClr val="08312A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47" name="Shape 45"/>
          <p:cNvSpPr/>
          <p:nvPr/>
        </p:nvSpPr>
        <p:spPr>
          <a:xfrm>
            <a:off x="3246120" y="3749040"/>
            <a:ext cx="365760" cy="914400"/>
          </a:xfrm>
          <a:prstGeom prst="rect">
            <a:avLst/>
          </a:prstGeom>
          <a:solidFill>
            <a:srgbClr val="00E47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8" name="Text 46"/>
          <p:cNvSpPr/>
          <p:nvPr/>
        </p:nvSpPr>
        <p:spPr>
          <a:xfrm>
            <a:off x="3246120" y="3749040"/>
            <a:ext cx="365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00" dirty="0"/>
          </a:p>
        </p:txBody>
      </p:sp>
      <p:sp>
        <p:nvSpPr>
          <p:cNvPr id="49" name="Text 47"/>
          <p:cNvSpPr/>
          <p:nvPr/>
        </p:nvSpPr>
        <p:spPr>
          <a:xfrm>
            <a:off x="3703320" y="382219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E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创新驱动成唯一确定性路径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3703320" y="4096512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礼蓝Zenrelia/Credelio Quattro放量，硕腾皮肤科下滑11%迎竞争压力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6172200" y="3749040"/>
            <a:ext cx="2743200" cy="914400"/>
          </a:xfrm>
          <a:prstGeom prst="rect">
            <a:avLst/>
          </a:prstGeom>
          <a:solidFill>
            <a:srgbClr val="08312A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52" name="Shape 50"/>
          <p:cNvSpPr/>
          <p:nvPr/>
        </p:nvSpPr>
        <p:spPr>
          <a:xfrm>
            <a:off x="6172200" y="3749040"/>
            <a:ext cx="365760" cy="914400"/>
          </a:xfrm>
          <a:prstGeom prst="rect">
            <a:avLst/>
          </a:prstGeom>
          <a:solidFill>
            <a:srgbClr val="00E47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3" name="Text 51"/>
          <p:cNvSpPr/>
          <p:nvPr/>
        </p:nvSpPr>
        <p:spPr>
          <a:xfrm>
            <a:off x="6172200" y="3749040"/>
            <a:ext cx="365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00" dirty="0"/>
          </a:p>
        </p:txBody>
      </p:sp>
      <p:sp>
        <p:nvSpPr>
          <p:cNvPr id="54" name="Text 52"/>
          <p:cNvSpPr/>
          <p:nvPr/>
        </p:nvSpPr>
        <p:spPr>
          <a:xfrm>
            <a:off x="6629400" y="382219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E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中国成跨国必争高地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6629400" y="4096512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BI中国2025年在华销售额+8.6%，礼蓝/诗华将战略重心迁至上海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8312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7" name="Text 55"/>
          <p:cNvSpPr/>
          <p:nvPr/>
        </p:nvSpPr>
        <p:spPr>
          <a:xfrm>
            <a:off x="365760" y="4800600"/>
            <a:ext cx="841248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98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数据来源：硕腾/礼蓝/默沙东/维克 Q1财报（2026年4-5月）  |  Data: May 2026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831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E47C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竞品分析：硕腾 Zoetis 驱虫药 | Zoetis Dewormer Portfolio ⭐ W21更新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65760" y="804672"/>
            <a:ext cx="8412480" cy="438912"/>
          </a:xfrm>
          <a:prstGeom prst="rect">
            <a:avLst/>
          </a:prstGeom>
          <a:solidFill>
            <a:srgbClr val="FFEEEE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804672"/>
            <a:ext cx="73152" cy="438912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804672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🚨 W21重大事件：5月7日 Zoetis下调2026年利润预测（宠物主削减开支、减少就诊），股价当日暴跌约21%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65760" y="1371600"/>
            <a:ext cx="2651760" cy="777240"/>
          </a:xfrm>
          <a:prstGeom prst="rect">
            <a:avLst/>
          </a:prstGeom>
          <a:solidFill>
            <a:srgbClr val="08312A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02920" y="1408176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E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~5,000亿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502920" y="173736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全球年营收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Annual Revenue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200400" y="1371600"/>
            <a:ext cx="2651760" cy="777240"/>
          </a:xfrm>
          <a:prstGeom prst="rect">
            <a:avLst/>
          </a:prstGeom>
          <a:solidFill>
            <a:srgbClr val="08312A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337560" y="1408176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E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3.6亿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3337560" y="173736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大宠爱年销(BI对比)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大宠爱 sales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035040" y="1371600"/>
            <a:ext cx="2651760" cy="777240"/>
          </a:xfrm>
          <a:prstGeom prst="rect">
            <a:avLst/>
          </a:prstGeom>
          <a:solidFill>
            <a:srgbClr val="08312A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172200" y="1408176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E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1.8亿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6172200" y="173736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妙宠爱年销(猫)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妙宠爱 sales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65760" y="2286000"/>
            <a:ext cx="4023360" cy="384048"/>
          </a:xfrm>
          <a:prstGeom prst="rect">
            <a:avLst/>
          </a:prstGeom>
          <a:solidFill>
            <a:srgbClr val="F58A68"/>
          </a:solidFill>
          <a:ln/>
        </p:spPr>
      </p:sp>
      <p:sp>
        <p:nvSpPr>
          <p:cNvPr id="18" name="Text 16"/>
          <p:cNvSpPr/>
          <p:nvPr/>
        </p:nvSpPr>
        <p:spPr>
          <a:xfrm>
            <a:off x="502920" y="2286000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Zoetis 驱虫药产品线 | Dewormer Products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743200"/>
            <a:ext cx="4023360" cy="59436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65760" y="2743200"/>
            <a:ext cx="54864" cy="594360"/>
          </a:xfrm>
          <a:prstGeom prst="rect">
            <a:avLst/>
          </a:prstGeom>
          <a:solidFill>
            <a:srgbClr val="F58A68"/>
          </a:solidFill>
          <a:ln/>
        </p:spPr>
      </p:sp>
      <p:sp>
        <p:nvSpPr>
          <p:cNvPr id="21" name="Text 19"/>
          <p:cNvSpPr/>
          <p:nvPr/>
        </p:nvSpPr>
        <p:spPr>
          <a:xfrm>
            <a:off x="502920" y="278892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大宠爱 Simparica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331720" y="2807208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98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犬 | 口服 | 内外同驱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502920" y="3026664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异恶唑啉类，驱杀蜱虫+跳蚤，全球热销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383280" y="278892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F58A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3.6亿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365760" y="3401568"/>
            <a:ext cx="4023360" cy="59436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65760" y="3401568"/>
            <a:ext cx="54864" cy="594360"/>
          </a:xfrm>
          <a:prstGeom prst="rect">
            <a:avLst/>
          </a:prstGeom>
          <a:solidFill>
            <a:srgbClr val="F58A68"/>
          </a:solidFill>
          <a:ln/>
        </p:spPr>
      </p:sp>
      <p:sp>
        <p:nvSpPr>
          <p:cNvPr id="27" name="Text 25"/>
          <p:cNvSpPr/>
          <p:nvPr/>
        </p:nvSpPr>
        <p:spPr>
          <a:xfrm>
            <a:off x="502920" y="3447288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妙宠爱 Simparica Trio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2331720" y="3465576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98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猫 | 口服 | 内外同驱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502920" y="3685032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犬心保升级版，猫用唯一内外同驱口服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3383280" y="3447288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F58A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1.8亿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365760" y="4059936"/>
            <a:ext cx="4023360" cy="59436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365760" y="4059936"/>
            <a:ext cx="54864" cy="594360"/>
          </a:xfrm>
          <a:prstGeom prst="rect">
            <a:avLst/>
          </a:prstGeom>
          <a:solidFill>
            <a:srgbClr val="F58A68"/>
          </a:solidFill>
          <a:ln/>
        </p:spPr>
      </p:sp>
      <p:sp>
        <p:nvSpPr>
          <p:cNvPr id="33" name="Text 31"/>
          <p:cNvSpPr/>
          <p:nvPr/>
        </p:nvSpPr>
        <p:spPr>
          <a:xfrm>
            <a:off x="502920" y="4105656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Apoquel 奥拉替尼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2331720" y="4123944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98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犬 | 口服 | 皮肤病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502920" y="4343400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特应性皮炎止痒，非驱虫但为皮肤科核心产品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3383280" y="4105656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F58A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全球爆款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4709160" y="2286000"/>
            <a:ext cx="4023360" cy="233172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4709160" y="2286000"/>
            <a:ext cx="4023360" cy="384048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39" name="Text 37"/>
          <p:cNvSpPr/>
          <p:nvPr/>
        </p:nvSpPr>
        <p:spPr>
          <a:xfrm>
            <a:off x="4846320" y="2286000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驱虫药市场挑战 | Dewormer Market Challenges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4846320" y="2743200"/>
            <a:ext cx="374904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W21利润预警：宠物主削减开支，高端驱虫药面临降价压力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中国驱虫药市场国产品牌性价比优势持续蚕食外资份额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大宠爱 vs 超可信：BI超可信已率先获批治疗犬疥螨/蠕形螨，形成差异化竞争优势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妙宠爱（猫） vs 博来恩：猫用口服市场教育成本高，滴剂仍为猫主流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365760" y="4663440"/>
            <a:ext cx="8412480" cy="438912"/>
          </a:xfrm>
          <a:prstGeom prst="rect">
            <a:avLst/>
          </a:prstGeom>
          <a:solidFill>
            <a:srgbClr val="08312A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548640" y="4663440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洞察：Zoetis大宠爱全球最强，但超可信已在中国获疥螨/蠕形螨治疗适应症，形成BI差异化优势。消费降级对高端口服驱虫影响最大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8312A"/>
          </a:solidFill>
          <a:ln/>
        </p:spPr>
      </p:sp>
      <p:sp>
        <p:nvSpPr>
          <p:cNvPr id="44" name="Text 42"/>
          <p:cNvSpPr/>
          <p:nvPr/>
        </p:nvSpPr>
        <p:spPr>
          <a:xfrm>
            <a:off x="365760" y="4800600"/>
            <a:ext cx="841248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98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数据来源：雪球网、前瞻网、Zoetis官方公告  |  Data: May 2026 (W21)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9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8312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E47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市场概览 | Market Overview — 猫狗增长趋势 &amp; 核心数据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320040" y="804672"/>
            <a:ext cx="2057400" cy="123444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320040" y="804672"/>
            <a:ext cx="54864" cy="1234440"/>
          </a:xfrm>
          <a:prstGeom prst="rect">
            <a:avLst/>
          </a:prstGeom>
          <a:solidFill>
            <a:srgbClr val="00E47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457200" y="877824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3,100+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457200" y="129844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E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亿元 CNY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1508760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中国宠物市场规模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China Pet Market Size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514600" y="804672"/>
            <a:ext cx="2057400" cy="123444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1" name="Shape 9"/>
          <p:cNvSpPr/>
          <p:nvPr/>
        </p:nvSpPr>
        <p:spPr>
          <a:xfrm>
            <a:off x="2514600" y="804672"/>
            <a:ext cx="54864" cy="1234440"/>
          </a:xfrm>
          <a:prstGeom prst="rect">
            <a:avLst/>
          </a:prstGeom>
          <a:solidFill>
            <a:srgbClr val="00E47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/>
          <p:cNvSpPr/>
          <p:nvPr/>
        </p:nvSpPr>
        <p:spPr>
          <a:xfrm>
            <a:off x="2651760" y="877824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840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2651760" y="129844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E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亿元 CNY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651760" y="1508760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宠物医疗消费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Pet Medical Consumption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709160" y="804672"/>
            <a:ext cx="2057400" cy="123444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6" name="Shape 14"/>
          <p:cNvSpPr/>
          <p:nvPr/>
        </p:nvSpPr>
        <p:spPr>
          <a:xfrm>
            <a:off x="4709160" y="804672"/>
            <a:ext cx="54864" cy="1234440"/>
          </a:xfrm>
          <a:prstGeom prst="rect">
            <a:avLst/>
          </a:prstGeom>
          <a:solidFill>
            <a:srgbClr val="00E47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5"/>
          <p:cNvSpPr/>
          <p:nvPr/>
        </p:nvSpPr>
        <p:spPr>
          <a:xfrm>
            <a:off x="4846320" y="877824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300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4846320" y="129844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E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亿元 CNY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846320" y="1508760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宠物药品市场规模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Pet Pharma Market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903720" y="804672"/>
            <a:ext cx="2057400" cy="123444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1" name="Shape 19"/>
          <p:cNvSpPr/>
          <p:nvPr/>
        </p:nvSpPr>
        <p:spPr>
          <a:xfrm>
            <a:off x="6903720" y="804672"/>
            <a:ext cx="54864" cy="1234440"/>
          </a:xfrm>
          <a:prstGeom prst="rect">
            <a:avLst/>
          </a:prstGeom>
          <a:solidFill>
            <a:srgbClr val="00E47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2" name="Text 20"/>
          <p:cNvSpPr/>
          <p:nvPr/>
        </p:nvSpPr>
        <p:spPr>
          <a:xfrm>
            <a:off x="7040880" y="877824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7040880" y="129844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E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CAGR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040880" y="1508760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宠物药品市场增速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Pet Pharma CAGR 2026-31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20040" y="2194560"/>
            <a:ext cx="4160520" cy="233172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6" name="Shape 24"/>
          <p:cNvSpPr/>
          <p:nvPr/>
        </p:nvSpPr>
        <p:spPr>
          <a:xfrm>
            <a:off x="320040" y="2194560"/>
            <a:ext cx="4160520" cy="411480"/>
          </a:xfrm>
          <a:prstGeom prst="rect">
            <a:avLst/>
          </a:prstGeom>
          <a:solidFill>
            <a:srgbClr val="A3E5E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7" name="Text 25"/>
          <p:cNvSpPr/>
          <p:nvPr/>
        </p:nvSpPr>
        <p:spPr>
          <a:xfrm>
            <a:off x="457200" y="2194560"/>
            <a:ext cx="3886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🐱 猫咪市场 | Cat Market — 最大增量来源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57200" y="2679192"/>
            <a:ext cx="388620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猫数量7,200万只，增速CAGR ~8%，已超越狗成为最大宠物品类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室内猫比例&gt;70%，"不出门不驱虫"误区→最大认知缺口，教育空间大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国产猫三联疫苗突破：海正「海妙哆」填补国产高端空白，2025年2月上市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猫用滴剂最优剂型（优于口服），猫咪喂药难→滴剂依从性更高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BI猫用：NexGard COMBO（首个且唯一获批治疗绦虫），博来恩（猫用）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663440" y="2194560"/>
            <a:ext cx="4160520" cy="233172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30" name="Shape 28"/>
          <p:cNvSpPr/>
          <p:nvPr/>
        </p:nvSpPr>
        <p:spPr>
          <a:xfrm>
            <a:off x="4663440" y="2194560"/>
            <a:ext cx="4160520" cy="411480"/>
          </a:xfrm>
          <a:prstGeom prst="rect">
            <a:avLst/>
          </a:prstGeom>
          <a:solidFill>
            <a:srgbClr val="F58A6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1" name="Text 29"/>
          <p:cNvSpPr/>
          <p:nvPr/>
        </p:nvSpPr>
        <p:spPr>
          <a:xfrm>
            <a:off x="4800600" y="2194560"/>
            <a:ext cx="3886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🐕 狗狗市场 | Dog Market — 高价值处方药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800600" y="2679192"/>
            <a:ext cx="388620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狗数量5,800万只，增速CAGR ~3%，整体消费能力高于猫（年消费4,000-6,000元）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户外暴露场景多，驱虫频次需求更高（蜱虫、心丝虫高发区）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超可信中国率先获批治疗犬疥螨、蠕形螨（异恶唑啉类）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宠物医院+电商双渠道布局深化，兽医推荐影响力大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BI产品：超可信、福来恩、福味恩、尼可信、犬心保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8312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4" name="Text 32"/>
          <p:cNvSpPr/>
          <p:nvPr/>
        </p:nvSpPr>
        <p:spPr>
          <a:xfrm>
            <a:off x="365760" y="4800600"/>
            <a:ext cx="841248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98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数据来源：艾媒咨询、前瞻网、中国畜牧业协会宠物产业分会、派读宠物行业大数据平台  |  Data: May 2026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9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8312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E47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 宠物药品清单 — 非处方药 | BIAH Pet Product List (Non-Rx)</a:t>
            </a:r>
            <a:endParaRPr lang="en-US" sz="17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804672"/>
          <a:ext cx="8595360" cy="3465576"/>
        </p:xfrm>
        <a:graphic>
          <a:graphicData uri="http://schemas.openxmlformats.org/drawingml/2006/table">
            <a:tbl>
              <a:tblPr/>
              <a:tblGrid>
                <a:gridCol w="1005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08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971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药品类别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31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药品名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31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客户及疗效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31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竞争对手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31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2025销量对比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31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0831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驱虫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E47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超可信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NexGard Spectra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F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狗驱虫，内外同驱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F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大宠爱（硕腾）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爱沃克（拜耳）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F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超可信 1.44亿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大宠爱 3.6亿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爱沃克 ~2.4亿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F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0831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驱虫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E47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博来恩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Broadkick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猫驱虫，内外同驱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妙宠爱（硕腾）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博来恩 1.08亿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妙宠爱 1.8亿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0831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驱虫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E47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福味恩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F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狗驱虫，口服外驱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F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贝卫多（默沙东）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欣宠克（礼蓝）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F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福味恩 0.48亿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贝卫多 1.2亿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欣宠克 ~0.6亿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F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0831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驱虫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E47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尼可信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狗驱虫，口服外驱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贝卫多（默沙东）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欣宠克（礼蓝）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尼可信 0.72亿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贝卫多 1.2亿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欣宠克 ~0.6亿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0831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驱虫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E47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福来恩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Frontline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F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狗驱虫，滴剂外驱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F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拜宠爽（拜耳）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恩倍多（瑞普生物）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F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福来恩 1.44亿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拜宠爽 1.2亿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恩倍多 ~0.8亿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F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0831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驱虫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E47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犬心保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Sentinel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狗驱虫，口服内驱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拜宠清（拜耳）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海乐妙（海正）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肠虫清（普安特）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犬心保 0.60亿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拜宠清 1.8亿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海乐妙 ~1.5亿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8312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Text 4"/>
          <p:cNvSpPr/>
          <p:nvPr/>
        </p:nvSpPr>
        <p:spPr>
          <a:xfrm>
            <a:off x="365760" y="4800600"/>
            <a:ext cx="7315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98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注：以上数据基于市场调研和行业估算，非官方披露数据  |  Data based on market research estimates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7315200" y="4800600"/>
            <a:ext cx="146304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00E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INTERNAL USE ONLY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9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8312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E47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竞品深度：硕腾 Zoetis | Q1 2026 — 行业龙头遭遇「倒春寒」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320040" y="804672"/>
            <a:ext cx="2057400" cy="868680"/>
          </a:xfrm>
          <a:prstGeom prst="rect">
            <a:avLst/>
          </a:prstGeom>
          <a:solidFill>
            <a:srgbClr val="08312A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429768" y="850392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0E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~5,000亿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429768" y="1216152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全球年营收参考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Annual Revenue Ref.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2514600" y="804672"/>
            <a:ext cx="2057400" cy="868680"/>
          </a:xfrm>
          <a:prstGeom prst="rect">
            <a:avLst/>
          </a:prstGeom>
          <a:solidFill>
            <a:srgbClr val="08312A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2624328" y="850392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0E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23亿美元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2624328" y="1216152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Q1营收 · +3% YoY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（不及预期）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709160" y="804672"/>
            <a:ext cx="2057400" cy="868680"/>
          </a:xfrm>
          <a:prstGeom prst="rect">
            <a:avLst/>
          </a:prstGeom>
          <a:solidFill>
            <a:srgbClr val="08312A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/>
          <p:cNvSpPr/>
          <p:nvPr/>
        </p:nvSpPr>
        <p:spPr>
          <a:xfrm>
            <a:off x="4818888" y="850392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0E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-11%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4818888" y="1216152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美国伴侣动物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同比下滑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6903720" y="804672"/>
            <a:ext cx="2057400" cy="868680"/>
          </a:xfrm>
          <a:prstGeom prst="rect">
            <a:avLst/>
          </a:prstGeom>
          <a:solidFill>
            <a:srgbClr val="08312A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/>
          <p:nvPr/>
        </p:nvSpPr>
        <p:spPr>
          <a:xfrm>
            <a:off x="7013448" y="850392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0E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+17%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7013448" y="1216152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国际市场增长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关键引擎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320040" y="182880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中国市场策略 | China Strategy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20040" y="2176272"/>
            <a:ext cx="42062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押注宠物五大慢性病：慢性肾病、肿瘤学、心脏病学、肥胖症、焦虑症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持续深耕宠物医院渠道，携手京东健康打造宠物抗感染中心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诊断领域：与生物梅里埃合作建立宠物临床微生物学示范实验室（2025年8月）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皮肤病产品：Apoquel（奥拉替尼）+ Cytopoint（洛吉司亭）全球领先，中国增速放缓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663440" y="1828800"/>
            <a:ext cx="4160520" cy="214884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0" name="Shape 18"/>
          <p:cNvSpPr/>
          <p:nvPr/>
        </p:nvSpPr>
        <p:spPr>
          <a:xfrm>
            <a:off x="4663440" y="1828800"/>
            <a:ext cx="4160520" cy="384048"/>
          </a:xfrm>
          <a:prstGeom prst="rect">
            <a:avLst/>
          </a:prstGeom>
          <a:solidFill>
            <a:srgbClr val="F58A6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9"/>
          <p:cNvSpPr/>
          <p:nvPr/>
        </p:nvSpPr>
        <p:spPr>
          <a:xfrm>
            <a:off x="4800600" y="1828800"/>
            <a:ext cx="3886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市场挑战 | Market Challenges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800600" y="2286000"/>
            <a:ext cx="38862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美国宠物市场放缓，竞争加剧，增长降速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Q1股价大跌逾10%，盘前一度跌超20%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中国高价值宠物药市场面临国产品牌性价比优势激烈竞争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Ottava手术机器人等待监管批准，短期无法商业化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20040" y="4114800"/>
            <a:ext cx="8503920" cy="548640"/>
          </a:xfrm>
          <a:prstGeom prst="rect">
            <a:avLst/>
          </a:prstGeom>
          <a:solidFill>
            <a:srgbClr val="08312A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4" name="Text 22"/>
          <p:cNvSpPr/>
          <p:nvPr/>
        </p:nvSpPr>
        <p:spPr>
          <a:xfrm>
            <a:off x="502920" y="4114800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洞察：硕腾高壁垒、高毛利、高复购，但短期面临增速压力；国际+诊断是亮点，中国市场慢性病布局为长期关键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8312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4"/>
          <p:cNvSpPr/>
          <p:nvPr/>
        </p:nvSpPr>
        <p:spPr>
          <a:xfrm>
            <a:off x="365760" y="4800600"/>
            <a:ext cx="841248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98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数据来源：硕腾 Q1 2026财报（4月29日）、雪球网、前瞻网  |  Data: May 2026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9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8312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E47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竞品动态：礼蓝 &amp; 默沙东 &amp; 维克 | Elanco · Merck · Virbac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320040" y="804672"/>
            <a:ext cx="2743200" cy="384048"/>
          </a:xfrm>
          <a:prstGeom prst="rect">
            <a:avLst/>
          </a:prstGeom>
          <a:solidFill>
            <a:srgbClr val="A3E5E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457200" y="804672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礼蓝 Elanco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" y="1261872"/>
            <a:ext cx="2743200" cy="242316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411480" y="1325880"/>
            <a:ext cx="25603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Q1营收10.4亿美元（-3% YoY）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新兴市场（中国等）面临短期压力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Zenrelia已覆盖超50%美国诊所，份额+5pct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Credelio Quattro渗透40%美国诊所，份额飙升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在已覆盖诊所中市场份额高达53%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全年有机增长指引上调至5%-7%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200400" y="804672"/>
            <a:ext cx="2743200" cy="384048"/>
          </a:xfrm>
          <a:prstGeom prst="rect">
            <a:avLst/>
          </a:prstGeom>
          <a:solidFill>
            <a:srgbClr val="C5C3E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3337560" y="804672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默沙东 MSD Animal Health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00400" y="1261872"/>
            <a:ext cx="2743200" cy="242316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/>
          <p:cNvSpPr/>
          <p:nvPr/>
        </p:nvSpPr>
        <p:spPr>
          <a:xfrm>
            <a:off x="3291840" y="1325880"/>
            <a:ext cx="25603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Q1动物保健板块18亿美元（+13% YoY）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牲畜业务更强（反刍动物+家禽+定价优势）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持续举办「宠物医院发展论坛」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深度布局宠物医院渠道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Nobivac狂犬病疫苗中国强劲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Bravecto（氟雷拉纳）持续布局中国市场准入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080760" y="804672"/>
            <a:ext cx="2743200" cy="384048"/>
          </a:xfrm>
          <a:prstGeom prst="rect">
            <a:avLst/>
          </a:prstGeom>
          <a:solidFill>
            <a:srgbClr val="FFE66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/>
          <p:nvPr/>
        </p:nvSpPr>
        <p:spPr>
          <a:xfrm>
            <a:off x="6217920" y="804672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维克 Virbac ⭐新晋关注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080760" y="1261872"/>
            <a:ext cx="2743200" cy="242316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4"/>
          <p:cNvSpPr/>
          <p:nvPr/>
        </p:nvSpPr>
        <p:spPr>
          <a:xfrm>
            <a:off x="6172200" y="1325880"/>
            <a:ext cx="25603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Q1营收3.84亿欧元（~4.14亿美元，+7.7%）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宠物板块同比+9.9%，最强增长引擎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北美地区+20.7%（按固定汇率）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"Supercharge"平台涵盖宠物全流程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2025年12月收购猫甲亢药Thyronorm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全球市场快速扩张，值得持续关注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20040" y="3840480"/>
            <a:ext cx="8503920" cy="685800"/>
          </a:xfrm>
          <a:prstGeom prst="rect">
            <a:avLst/>
          </a:prstGeom>
          <a:solidFill>
            <a:srgbClr val="08312A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/>
          <p:nvPr/>
        </p:nvSpPr>
        <p:spPr>
          <a:xfrm>
            <a:off x="502920" y="3840480"/>
            <a:ext cx="8138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渠道策略共识 | Channel Strategy：外资品牌核心渠道 = 宠物医院（制高点）+ 电商快速增长（京东健康×硕腾合作；驱虫药电商55%份额）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8312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8"/>
          <p:cNvSpPr/>
          <p:nvPr/>
        </p:nvSpPr>
        <p:spPr>
          <a:xfrm>
            <a:off x="365760" y="4800600"/>
            <a:ext cx="841248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98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数据来源：礼蓝/默沙东/维克 Q1财报、前瞻网、Elanco官方公告  |  Data: May 2026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9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8312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E47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国内竞品深度：海正动保 ⭐重点关注 | Haizhou Animal Health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320040" y="804672"/>
            <a:ext cx="4160520" cy="384048"/>
          </a:xfrm>
          <a:prstGeom prst="rect">
            <a:avLst/>
          </a:prstGeom>
          <a:solidFill>
            <a:srgbClr val="FFE66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457200" y="804672"/>
            <a:ext cx="3886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战略定位：从「两条腿走路」到「宠物为核心+出海」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0040" y="1261872"/>
            <a:ext cx="4160520" cy="329184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411480" y="1325880"/>
            <a:ext cx="3931920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企业规模：25条生产线，近50款在售产品，40个在研产品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研发实力：85%新项目集中在宠物，每年4-6款新品上市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过去15年47个新兽药批文（占全国近10%），15个国家二类新兽药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2025年宠物业务占比55%（原计划2-3年实现，已提前完成）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2026年计划再推5-6个新品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产能布局：富阳（化药）+ 云南（疫苗/大分子）+ 台州（处方粮，2027投产）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国际化：2026年目标3-5个海外市场商业化；越南获批为出海首秀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出海节奏：一带一路优先（东南亚→俄罗斯→南美→非洲→中东→欧美）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663440" y="804672"/>
            <a:ext cx="4160520" cy="384048"/>
          </a:xfrm>
          <a:prstGeom prst="rect">
            <a:avLst/>
          </a:prstGeom>
          <a:solidFill>
            <a:srgbClr val="00E47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4800600" y="804672"/>
            <a:ext cx="3886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核心产品矩阵 | Product Highlights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663440" y="1261872"/>
            <a:ext cx="4160520" cy="768096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2" name="Shape 10"/>
          <p:cNvSpPr/>
          <p:nvPr/>
        </p:nvSpPr>
        <p:spPr>
          <a:xfrm>
            <a:off x="4663440" y="1261872"/>
            <a:ext cx="54864" cy="768096"/>
          </a:xfrm>
          <a:prstGeom prst="rect">
            <a:avLst/>
          </a:prstGeom>
          <a:solidFill>
            <a:srgbClr val="00E47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4828032" y="1325880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海乐妙 🏆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828032" y="1581912"/>
            <a:ext cx="3886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猫驱虫药，国内市占率第一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2025年含税销售额2亿元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国内猫约7000万只，渗透率&lt;20%（增长空间大）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663440" y="2103120"/>
            <a:ext cx="4160520" cy="768096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6" name="Shape 14"/>
          <p:cNvSpPr/>
          <p:nvPr/>
        </p:nvSpPr>
        <p:spPr>
          <a:xfrm>
            <a:off x="4663440" y="2103120"/>
            <a:ext cx="54864" cy="768096"/>
          </a:xfrm>
          <a:prstGeom prst="rect">
            <a:avLst/>
          </a:prstGeom>
          <a:solidFill>
            <a:srgbClr val="A3E5E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5"/>
          <p:cNvSpPr/>
          <p:nvPr/>
        </p:nvSpPr>
        <p:spPr>
          <a:xfrm>
            <a:off x="4828032" y="2167128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海妙哆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828032" y="2423160"/>
            <a:ext cx="3886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国产猫三联疫苗，2025年2月上市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定价比进口品牌还高，工艺更好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填补国产高端宠物疫苗空白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663440" y="2944368"/>
            <a:ext cx="4160520" cy="768096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0" name="Shape 18"/>
          <p:cNvSpPr/>
          <p:nvPr/>
        </p:nvSpPr>
        <p:spPr>
          <a:xfrm>
            <a:off x="4663440" y="2944368"/>
            <a:ext cx="54864" cy="768096"/>
          </a:xfrm>
          <a:prstGeom prst="rect">
            <a:avLst/>
          </a:prstGeom>
          <a:solidFill>
            <a:srgbClr val="F58A6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9"/>
          <p:cNvSpPr/>
          <p:nvPr/>
        </p:nvSpPr>
        <p:spPr>
          <a:xfrm>
            <a:off x="4828032" y="3008376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海乐旺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828032" y="3264408"/>
            <a:ext cx="3886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驱虫药产品，获越南官方批准上市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出海首秀成功，国际化战略突破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663440" y="3785616"/>
            <a:ext cx="4160520" cy="768096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4" name="Shape 22"/>
          <p:cNvSpPr/>
          <p:nvPr/>
        </p:nvSpPr>
        <p:spPr>
          <a:xfrm>
            <a:off x="4663440" y="3785616"/>
            <a:ext cx="54864" cy="768096"/>
          </a:xfrm>
          <a:prstGeom prst="rect">
            <a:avLst/>
          </a:prstGeom>
          <a:solidFill>
            <a:srgbClr val="C5C3E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5" name="Text 23"/>
          <p:cNvSpPr/>
          <p:nvPr/>
        </p:nvSpPr>
        <p:spPr>
          <a:xfrm>
            <a:off x="4828032" y="3849624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处方粮（药粮联动）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828032" y="4105656"/>
            <a:ext cx="3886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台州基地2026下半年开工，2027底投产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国内处方粮渗透率&lt;1%，海外25%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差异化定位：诊断—治疗—术后康复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274320" y="4535424"/>
            <a:ext cx="8503920" cy="384048"/>
          </a:xfrm>
          <a:prstGeom prst="rect">
            <a:avLst/>
          </a:prstGeom>
          <a:solidFill>
            <a:srgbClr val="08312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8" name="Text 26"/>
          <p:cNvSpPr/>
          <p:nvPr/>
        </p:nvSpPr>
        <p:spPr>
          <a:xfrm>
            <a:off x="388620" y="453869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对BI威胁：海乐妙直接冲击BI猫驱虫线；85%研发投入宠物+出海战略意味着全面竞争；「药粮联动」或重塑宠物健康解决方案格局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8312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0" name="Text 28"/>
          <p:cNvSpPr/>
          <p:nvPr/>
        </p:nvSpPr>
        <p:spPr>
          <a:xfrm>
            <a:off x="365760" y="4800600"/>
            <a:ext cx="841248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98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数据来源：全球宠业出海洞察×海正动保总经理访谈（2026年5月11日）  |  Data: May 2026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9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8312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E47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国内竞品动态 | Domestic Competitor Dynamics — 进口替代加速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320040" y="804672"/>
            <a:ext cx="4160520" cy="173736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320040" y="804672"/>
            <a:ext cx="4160520" cy="411480"/>
          </a:xfrm>
          <a:prstGeom prst="rect">
            <a:avLst/>
          </a:prstGeom>
          <a:solidFill>
            <a:srgbClr val="FFE66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457200" y="804672"/>
            <a:ext cx="3886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海正动保  [⭐ 重点]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57200" y="1280160"/>
            <a:ext cx="3886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海乐妙猫驱虫市占率第一（2亿元/年）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海妙哆猫三联疫苗国产突破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85%研发投入宠物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出海：越南获批，2026目标3-5个海外市场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709160" y="804672"/>
            <a:ext cx="4160520" cy="173736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0" name="Shape 8"/>
          <p:cNvSpPr/>
          <p:nvPr/>
        </p:nvSpPr>
        <p:spPr>
          <a:xfrm>
            <a:off x="4709160" y="804672"/>
            <a:ext cx="4160520" cy="411480"/>
          </a:xfrm>
          <a:prstGeom prst="rect">
            <a:avLst/>
          </a:prstGeom>
          <a:solidFill>
            <a:srgbClr val="A3E5E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4846320" y="804672"/>
            <a:ext cx="3886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惠中动保  [新进入者]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846320" y="1280160"/>
            <a:ext cx="3886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发布狗狗驱虫滴剂「倍宠恩」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布局宠物驱虫药市场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价格竞争压力上升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20040" y="2679192"/>
            <a:ext cx="4160520" cy="173736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4" name="Shape 12"/>
          <p:cNvSpPr/>
          <p:nvPr/>
        </p:nvSpPr>
        <p:spPr>
          <a:xfrm>
            <a:off x="320040" y="2679192"/>
            <a:ext cx="4160520" cy="411480"/>
          </a:xfrm>
          <a:prstGeom prst="rect">
            <a:avLst/>
          </a:prstGeom>
          <a:solidFill>
            <a:srgbClr val="C5C3E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/>
          <p:nvPr/>
        </p:nvSpPr>
        <p:spPr>
          <a:xfrm>
            <a:off x="457200" y="2679192"/>
            <a:ext cx="3886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金河生物  [观察]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57200" y="3154680"/>
            <a:ext cx="3886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2026年4月29日投资者关系活动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关注宠物动保业务动态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709160" y="2679192"/>
            <a:ext cx="4160520" cy="173736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8" name="Shape 16"/>
          <p:cNvSpPr/>
          <p:nvPr/>
        </p:nvSpPr>
        <p:spPr>
          <a:xfrm>
            <a:off x="4709160" y="2679192"/>
            <a:ext cx="4160520" cy="411480"/>
          </a:xfrm>
          <a:prstGeom prst="rect">
            <a:avLst/>
          </a:prstGeom>
          <a:solidFill>
            <a:srgbClr val="F58A6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7"/>
          <p:cNvSpPr/>
          <p:nvPr/>
        </p:nvSpPr>
        <p:spPr>
          <a:xfrm>
            <a:off x="4846320" y="2679192"/>
            <a:ext cx="3886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瑞普生物  [竞品]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846320" y="3154680"/>
            <a:ext cx="3886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恩倍多狗用滴剂对标福来恩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价格竞争激烈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20040" y="4526280"/>
            <a:ext cx="8503920" cy="502920"/>
          </a:xfrm>
          <a:prstGeom prst="rect">
            <a:avLst/>
          </a:prstGeom>
          <a:solidFill>
            <a:srgbClr val="08312A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2" name="Text 20"/>
          <p:cNvSpPr/>
          <p:nvPr/>
        </p:nvSpPr>
        <p:spPr>
          <a:xfrm>
            <a:off x="502920" y="4526280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国产替代加速深化 | Import Substitution Deepening：猫三联疫苗已实现国产集体突破，向高端药品市场渗透；国产品牌性价比优势持续蚕食外资份额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8312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4" name="Text 22"/>
          <p:cNvSpPr/>
          <p:nvPr/>
        </p:nvSpPr>
        <p:spPr>
          <a:xfrm>
            <a:off x="365760" y="4800600"/>
            <a:ext cx="841248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98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数据来源：前瞻网、海正动保官方信息、惠中动保电商信息  |  Data: May 2026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9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8312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E47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 vs 竞品：关键维度对比 | BI vs Competitors — 5-Dimension Comparison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365760" y="804672"/>
            <a:ext cx="1463040" cy="502920"/>
          </a:xfrm>
          <a:prstGeom prst="rect">
            <a:avLst/>
          </a:prstGeom>
          <a:solidFill>
            <a:srgbClr val="08312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365760" y="804672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维度 Dimension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828800" y="804672"/>
            <a:ext cx="1828800" cy="502920"/>
          </a:xfrm>
          <a:prstGeom prst="rect">
            <a:avLst/>
          </a:prstGeom>
          <a:solidFill>
            <a:srgbClr val="08312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1828800" y="804672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 Boehringer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657600" y="804672"/>
            <a:ext cx="1737360" cy="502920"/>
          </a:xfrm>
          <a:prstGeom prst="rect">
            <a:avLst/>
          </a:prstGeom>
          <a:solidFill>
            <a:srgbClr val="08312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3657600" y="804672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Zoetis 硕腾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394960" y="804672"/>
            <a:ext cx="1600200" cy="502920"/>
          </a:xfrm>
          <a:prstGeom prst="rect">
            <a:avLst/>
          </a:prstGeom>
          <a:solidFill>
            <a:srgbClr val="08312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/>
          <p:cNvSpPr/>
          <p:nvPr/>
        </p:nvSpPr>
        <p:spPr>
          <a:xfrm>
            <a:off x="5394960" y="804672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Elanco 礼蓝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995160" y="804672"/>
            <a:ext cx="1600200" cy="502920"/>
          </a:xfrm>
          <a:prstGeom prst="rect">
            <a:avLst/>
          </a:prstGeom>
          <a:solidFill>
            <a:srgbClr val="08312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/>
          <p:nvPr/>
        </p:nvSpPr>
        <p:spPr>
          <a:xfrm>
            <a:off x="6995160" y="804672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Haizhou 海正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65760" y="1307592"/>
            <a:ext cx="1463040" cy="621792"/>
          </a:xfrm>
          <a:prstGeom prst="rect">
            <a:avLst/>
          </a:prstGeom>
          <a:solidFill>
            <a:srgbClr val="F5FBF7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4"/>
          <p:cNvSpPr/>
          <p:nvPr/>
        </p:nvSpPr>
        <p:spPr>
          <a:xfrm>
            <a:off x="411480" y="1307592"/>
            <a:ext cx="1371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核心产品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Products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1828800" y="1307592"/>
            <a:ext cx="1828800" cy="621792"/>
          </a:xfrm>
          <a:prstGeom prst="rect">
            <a:avLst/>
          </a:prstGeom>
          <a:solidFill>
            <a:srgbClr val="E8FFF2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/>
          <p:nvPr/>
        </p:nvSpPr>
        <p:spPr>
          <a:xfrm>
            <a:off x="1874520" y="1307592"/>
            <a:ext cx="1737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超可信、NexGard COMBO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（驱虫+抗寄生虫）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3657600" y="1307592"/>
            <a:ext cx="1737360" cy="621792"/>
          </a:xfrm>
          <a:prstGeom prst="rect">
            <a:avLst/>
          </a:prstGeom>
          <a:solidFill>
            <a:srgbClr val="F5FBF7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8"/>
          <p:cNvSpPr/>
          <p:nvPr/>
        </p:nvSpPr>
        <p:spPr>
          <a:xfrm>
            <a:off x="3703320" y="1307592"/>
            <a:ext cx="1645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驱虫药、疫苗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高价值处方药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5394960" y="1307592"/>
            <a:ext cx="1600200" cy="621792"/>
          </a:xfrm>
          <a:prstGeom prst="rect">
            <a:avLst/>
          </a:prstGeom>
          <a:solidFill>
            <a:srgbClr val="F5FBF7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Text 20"/>
          <p:cNvSpPr/>
          <p:nvPr/>
        </p:nvSpPr>
        <p:spPr>
          <a:xfrm>
            <a:off x="5440680" y="1307592"/>
            <a:ext cx="1508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Zenrelia、Credelio Quattro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（创新驱虫）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6995160" y="1307592"/>
            <a:ext cx="1600200" cy="621792"/>
          </a:xfrm>
          <a:prstGeom prst="rect">
            <a:avLst/>
          </a:prstGeom>
          <a:solidFill>
            <a:srgbClr val="F5FBF7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Text 22"/>
          <p:cNvSpPr/>
          <p:nvPr/>
        </p:nvSpPr>
        <p:spPr>
          <a:xfrm>
            <a:off x="7040880" y="1307592"/>
            <a:ext cx="1508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海乐妙（猫驱虫第一）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海妙哆（国产猫三联）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365760" y="1929384"/>
            <a:ext cx="146304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4"/>
          <p:cNvSpPr/>
          <p:nvPr/>
        </p:nvSpPr>
        <p:spPr>
          <a:xfrm>
            <a:off x="411480" y="1929384"/>
            <a:ext cx="1371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技术优势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 Edge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1828800" y="1929384"/>
            <a:ext cx="1828800" cy="621792"/>
          </a:xfrm>
          <a:prstGeom prst="rect">
            <a:avLst/>
          </a:prstGeom>
          <a:solidFill>
            <a:srgbClr val="E8FFF2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Text 26"/>
          <p:cNvSpPr/>
          <p:nvPr/>
        </p:nvSpPr>
        <p:spPr>
          <a:xfrm>
            <a:off x="1874520" y="1929384"/>
            <a:ext cx="1737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异恶唑啉类创新药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猫糖尿病口服在研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3657600" y="1929384"/>
            <a:ext cx="173736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Text 28"/>
          <p:cNvSpPr/>
          <p:nvPr/>
        </p:nvSpPr>
        <p:spPr>
          <a:xfrm>
            <a:off x="3703320" y="1929384"/>
            <a:ext cx="1645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手术机器人Ottava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慢性病五大领域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5394960" y="1929384"/>
            <a:ext cx="160020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Text 30"/>
          <p:cNvSpPr/>
          <p:nvPr/>
        </p:nvSpPr>
        <p:spPr>
          <a:xfrm>
            <a:off x="5440680" y="1929384"/>
            <a:ext cx="1508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JAK抑制剂Zenrelia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Quattro放量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6995160" y="1929384"/>
            <a:ext cx="160020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4" name="Text 32"/>
          <p:cNvSpPr/>
          <p:nvPr/>
        </p:nvSpPr>
        <p:spPr>
          <a:xfrm>
            <a:off x="7040880" y="1929384"/>
            <a:ext cx="1508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国产疫苗突破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原料药自产 6A标准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365760" y="2551176"/>
            <a:ext cx="1463040" cy="621792"/>
          </a:xfrm>
          <a:prstGeom prst="rect">
            <a:avLst/>
          </a:prstGeom>
          <a:solidFill>
            <a:srgbClr val="F5FBF7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6" name="Text 34"/>
          <p:cNvSpPr/>
          <p:nvPr/>
        </p:nvSpPr>
        <p:spPr>
          <a:xfrm>
            <a:off x="411480" y="2551176"/>
            <a:ext cx="1371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渠道策略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Channels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1828800" y="2551176"/>
            <a:ext cx="1828800" cy="621792"/>
          </a:xfrm>
          <a:prstGeom prst="rect">
            <a:avLst/>
          </a:prstGeom>
          <a:solidFill>
            <a:srgbClr val="E8FFF2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8" name="Text 36"/>
          <p:cNvSpPr/>
          <p:nvPr/>
        </p:nvSpPr>
        <p:spPr>
          <a:xfrm>
            <a:off x="1874520" y="2551176"/>
            <a:ext cx="1737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宠物医院+电商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双渠道布局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3657600" y="2551176"/>
            <a:ext cx="1737360" cy="621792"/>
          </a:xfrm>
          <a:prstGeom prst="rect">
            <a:avLst/>
          </a:prstGeom>
          <a:solidFill>
            <a:srgbClr val="F5FBF7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0" name="Text 38"/>
          <p:cNvSpPr/>
          <p:nvPr/>
        </p:nvSpPr>
        <p:spPr>
          <a:xfrm>
            <a:off x="3703320" y="2551176"/>
            <a:ext cx="1645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医院为主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京东健康合作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5394960" y="2551176"/>
            <a:ext cx="1600200" cy="621792"/>
          </a:xfrm>
          <a:prstGeom prst="rect">
            <a:avLst/>
          </a:prstGeom>
          <a:solidFill>
            <a:srgbClr val="F5FBF7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2" name="Text 40"/>
          <p:cNvSpPr/>
          <p:nvPr/>
        </p:nvSpPr>
        <p:spPr>
          <a:xfrm>
            <a:off x="5440680" y="2551176"/>
            <a:ext cx="1508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医院深耕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K+N物流合作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6995160" y="2551176"/>
            <a:ext cx="1600200" cy="621792"/>
          </a:xfrm>
          <a:prstGeom prst="rect">
            <a:avLst/>
          </a:prstGeom>
          <a:solidFill>
            <a:srgbClr val="F5FBF7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4" name="Text 42"/>
          <p:cNvSpPr/>
          <p:nvPr/>
        </p:nvSpPr>
        <p:spPr>
          <a:xfrm>
            <a:off x="7040880" y="2551176"/>
            <a:ext cx="1508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电商增速80%+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医院线下布局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365760" y="3172968"/>
            <a:ext cx="146304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6" name="Text 44"/>
          <p:cNvSpPr/>
          <p:nvPr/>
        </p:nvSpPr>
        <p:spPr>
          <a:xfrm>
            <a:off x="411480" y="3172968"/>
            <a:ext cx="1371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市场定位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Positioning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1828800" y="3172968"/>
            <a:ext cx="1828800" cy="621792"/>
          </a:xfrm>
          <a:prstGeom prst="rect">
            <a:avLst/>
          </a:prstGeom>
          <a:solidFill>
            <a:srgbClr val="E8FFF2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8" name="Text 46"/>
          <p:cNvSpPr/>
          <p:nvPr/>
        </p:nvSpPr>
        <p:spPr>
          <a:xfrm>
            <a:off x="1874520" y="3172968"/>
            <a:ext cx="1737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高端驱虫/抗寄生虫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预防性用药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3657600" y="3172968"/>
            <a:ext cx="173736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0" name="Text 48"/>
          <p:cNvSpPr/>
          <p:nvPr/>
        </p:nvSpPr>
        <p:spPr>
          <a:xfrm>
            <a:off x="3703320" y="3172968"/>
            <a:ext cx="1645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高价值处方药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慢性病长期管理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5394960" y="3172968"/>
            <a:ext cx="160020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2" name="Text 50"/>
          <p:cNvSpPr/>
          <p:nvPr/>
        </p:nvSpPr>
        <p:spPr>
          <a:xfrm>
            <a:off x="5440680" y="3172968"/>
            <a:ext cx="1508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预防+治疗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精准干预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6995160" y="3172968"/>
            <a:ext cx="160020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4" name="Text 52"/>
          <p:cNvSpPr/>
          <p:nvPr/>
        </p:nvSpPr>
        <p:spPr>
          <a:xfrm>
            <a:off x="7040880" y="3172968"/>
            <a:ext cx="1508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性价比+国产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进口替代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365760" y="3794760"/>
            <a:ext cx="1463040" cy="621792"/>
          </a:xfrm>
          <a:prstGeom prst="rect">
            <a:avLst/>
          </a:prstGeom>
          <a:solidFill>
            <a:srgbClr val="F5FBF7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6" name="Text 54"/>
          <p:cNvSpPr/>
          <p:nvPr/>
        </p:nvSpPr>
        <p:spPr>
          <a:xfrm>
            <a:off x="411480" y="3794760"/>
            <a:ext cx="1371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主要挑战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Challenges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1828800" y="3794760"/>
            <a:ext cx="1828800" cy="621792"/>
          </a:xfrm>
          <a:prstGeom prst="rect">
            <a:avLst/>
          </a:prstGeom>
          <a:solidFill>
            <a:srgbClr val="E8FFF2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8" name="Text 56"/>
          <p:cNvSpPr/>
          <p:nvPr/>
        </p:nvSpPr>
        <p:spPr>
          <a:xfrm>
            <a:off x="1874520" y="3794760"/>
            <a:ext cx="1737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国产品性价比竞争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新品上市速度</a:t>
            </a:r>
            <a:endParaRPr lang="en-US" sz="800" dirty="0"/>
          </a:p>
        </p:txBody>
      </p:sp>
      <p:sp>
        <p:nvSpPr>
          <p:cNvPr id="59" name="Shape 57"/>
          <p:cNvSpPr/>
          <p:nvPr/>
        </p:nvSpPr>
        <p:spPr>
          <a:xfrm>
            <a:off x="3657600" y="3794760"/>
            <a:ext cx="1737360" cy="621792"/>
          </a:xfrm>
          <a:prstGeom prst="rect">
            <a:avLst/>
          </a:prstGeom>
          <a:solidFill>
            <a:srgbClr val="F5FBF7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0" name="Text 58"/>
          <p:cNvSpPr/>
          <p:nvPr/>
        </p:nvSpPr>
        <p:spPr>
          <a:xfrm>
            <a:off x="3703320" y="3794760"/>
            <a:ext cx="1645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增速放缓-11%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市场竞争加剧</a:t>
            </a:r>
            <a:endParaRPr lang="en-US" sz="800" dirty="0"/>
          </a:p>
        </p:txBody>
      </p:sp>
      <p:sp>
        <p:nvSpPr>
          <p:cNvPr id="61" name="Shape 59"/>
          <p:cNvSpPr/>
          <p:nvPr/>
        </p:nvSpPr>
        <p:spPr>
          <a:xfrm>
            <a:off x="5394960" y="3794760"/>
            <a:ext cx="1600200" cy="621792"/>
          </a:xfrm>
          <a:prstGeom prst="rect">
            <a:avLst/>
          </a:prstGeom>
          <a:solidFill>
            <a:srgbClr val="F5FBF7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2" name="Text 60"/>
          <p:cNvSpPr/>
          <p:nvPr/>
        </p:nvSpPr>
        <p:spPr>
          <a:xfrm>
            <a:off x="5440680" y="3794760"/>
            <a:ext cx="1508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净负债33亿美元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新兴市场压力</a:t>
            </a:r>
            <a:endParaRPr lang="en-US" sz="800" dirty="0"/>
          </a:p>
        </p:txBody>
      </p:sp>
      <p:sp>
        <p:nvSpPr>
          <p:cNvPr id="63" name="Shape 61"/>
          <p:cNvSpPr/>
          <p:nvPr/>
        </p:nvSpPr>
        <p:spPr>
          <a:xfrm>
            <a:off x="6995160" y="3794760"/>
            <a:ext cx="1600200" cy="621792"/>
          </a:xfrm>
          <a:prstGeom prst="rect">
            <a:avLst/>
          </a:prstGeom>
          <a:solidFill>
            <a:srgbClr val="F5FBF7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4" name="Text 62"/>
          <p:cNvSpPr/>
          <p:nvPr/>
        </p:nvSpPr>
        <p:spPr>
          <a:xfrm>
            <a:off x="7040880" y="3794760"/>
            <a:ext cx="1508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高端突破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国际化经验</a:t>
            </a:r>
            <a:endParaRPr lang="en-US" sz="800" dirty="0"/>
          </a:p>
        </p:txBody>
      </p:sp>
      <p:sp>
        <p:nvSpPr>
          <p:cNvPr id="65" name="Shape 63"/>
          <p:cNvSpPr/>
          <p:nvPr/>
        </p:nvSpPr>
        <p:spPr>
          <a:xfrm>
            <a:off x="365760" y="1307592"/>
            <a:ext cx="1463040" cy="3108960"/>
          </a:xfrm>
          <a:prstGeom prst="rect">
            <a:avLst/>
          </a:prstGeom>
          <a:solidFill>
            <a:srgbClr val="00E47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6" name="Text 64"/>
          <p:cNvSpPr/>
          <p:nvPr/>
        </p:nvSpPr>
        <p:spPr>
          <a:xfrm>
            <a:off x="365760" y="1307592"/>
            <a:ext cx="14630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优势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 Edge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831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0E47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行业趋势与 BI 机遇 | 6 Key Industry Trends &amp; BI Opportunities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896112"/>
            <a:ext cx="4114800" cy="1115568"/>
          </a:xfrm>
          <a:prstGeom prst="rect">
            <a:avLst/>
          </a:prstGeom>
          <a:solidFill>
            <a:srgbClr val="FFFFFF">
              <a:alpha val="92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365760" y="896112"/>
            <a:ext cx="457200" cy="1115568"/>
          </a:xfrm>
          <a:prstGeom prst="rect">
            <a:avLst/>
          </a:prstGeom>
          <a:solidFill>
            <a:srgbClr val="00E47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365760" y="896112"/>
            <a:ext cx="45720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950976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进口替代加速深化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14400" y="1243584"/>
            <a:ext cx="3429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7B6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猫三联疫苗国产集体突破后，海正等持续向高端宠物药品市场渗透，外资品牌份额面临压缩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754880" y="896112"/>
            <a:ext cx="4114800" cy="1115568"/>
          </a:xfrm>
          <a:prstGeom prst="rect">
            <a:avLst/>
          </a:prstGeom>
          <a:solidFill>
            <a:srgbClr val="FFFFFF">
              <a:alpha val="92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" name="Shape 8"/>
          <p:cNvSpPr/>
          <p:nvPr/>
        </p:nvSpPr>
        <p:spPr>
          <a:xfrm>
            <a:off x="4754880" y="896112"/>
            <a:ext cx="457200" cy="1115568"/>
          </a:xfrm>
          <a:prstGeom prst="rect">
            <a:avLst/>
          </a:prstGeom>
          <a:solidFill>
            <a:srgbClr val="00E47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4754880" y="896112"/>
            <a:ext cx="45720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303520" y="950976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国产宠药国际化突破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303520" y="1243584"/>
            <a:ext cx="3429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7B6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海正「海乐旺」获越南批准，中国动保企业从「引进来」向「走出去」转型，出海成战略重点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65760" y="2157984"/>
            <a:ext cx="4114800" cy="1115568"/>
          </a:xfrm>
          <a:prstGeom prst="rect">
            <a:avLst/>
          </a:prstGeom>
          <a:solidFill>
            <a:srgbClr val="FFFFFF">
              <a:alpha val="92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Shape 13"/>
          <p:cNvSpPr/>
          <p:nvPr/>
        </p:nvSpPr>
        <p:spPr>
          <a:xfrm>
            <a:off x="365760" y="2157984"/>
            <a:ext cx="457200" cy="1115568"/>
          </a:xfrm>
          <a:prstGeom prst="rect">
            <a:avLst/>
          </a:prstGeom>
          <a:solidFill>
            <a:srgbClr val="00E47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4"/>
          <p:cNvSpPr/>
          <p:nvPr/>
        </p:nvSpPr>
        <p:spPr>
          <a:xfrm>
            <a:off x="365760" y="2157984"/>
            <a:ext cx="45720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914400" y="2212848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美国宠物市场消费降级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914400" y="2505456"/>
            <a:ext cx="3429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7B6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硕腾Q1美国伴侣动物-11%，消费者价格敏感度上升，宠物高端医疗需求疲软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754880" y="2157984"/>
            <a:ext cx="4114800" cy="1115568"/>
          </a:xfrm>
          <a:prstGeom prst="rect">
            <a:avLst/>
          </a:prstGeom>
          <a:solidFill>
            <a:srgbClr val="FFFFFF">
              <a:alpha val="92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0" name="Shape 18"/>
          <p:cNvSpPr/>
          <p:nvPr/>
        </p:nvSpPr>
        <p:spPr>
          <a:xfrm>
            <a:off x="4754880" y="2157984"/>
            <a:ext cx="457200" cy="1115568"/>
          </a:xfrm>
          <a:prstGeom prst="rect">
            <a:avLst/>
          </a:prstGeom>
          <a:solidFill>
            <a:srgbClr val="00E47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9"/>
          <p:cNvSpPr/>
          <p:nvPr/>
        </p:nvSpPr>
        <p:spPr>
          <a:xfrm>
            <a:off x="4754880" y="2157984"/>
            <a:ext cx="45720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5303520" y="2212848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技术创新驱动增长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303520" y="2505456"/>
            <a:ext cx="3429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7B6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礼蓝Zenrelia/Credelio Quattro放量成唯一确定性路径；硕腾押注五大慢性病；创新是护城河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65760" y="3419856"/>
            <a:ext cx="4114800" cy="1115568"/>
          </a:xfrm>
          <a:prstGeom prst="rect">
            <a:avLst/>
          </a:prstGeom>
          <a:solidFill>
            <a:srgbClr val="FFFFFF">
              <a:alpha val="92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5" name="Shape 23"/>
          <p:cNvSpPr/>
          <p:nvPr/>
        </p:nvSpPr>
        <p:spPr>
          <a:xfrm>
            <a:off x="365760" y="3419856"/>
            <a:ext cx="457200" cy="1115568"/>
          </a:xfrm>
          <a:prstGeom prst="rect">
            <a:avLst/>
          </a:prstGeom>
          <a:solidFill>
            <a:srgbClr val="00E47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4"/>
          <p:cNvSpPr/>
          <p:nvPr/>
        </p:nvSpPr>
        <p:spPr>
          <a:xfrm>
            <a:off x="365760" y="3419856"/>
            <a:ext cx="45720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914400" y="347472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渠道竞争多元化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914400" y="3767328"/>
            <a:ext cx="3429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7B6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电商占驱虫药55%份额（+20% YoY）；宠物医院仍是外资核心阵地；O2O即时需求崛起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754880" y="3419856"/>
            <a:ext cx="4114800" cy="1115568"/>
          </a:xfrm>
          <a:prstGeom prst="rect">
            <a:avLst/>
          </a:prstGeom>
          <a:solidFill>
            <a:srgbClr val="FFFFFF">
              <a:alpha val="92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0" name="Shape 28"/>
          <p:cNvSpPr/>
          <p:nvPr/>
        </p:nvSpPr>
        <p:spPr>
          <a:xfrm>
            <a:off x="4754880" y="3419856"/>
            <a:ext cx="457200" cy="1115568"/>
          </a:xfrm>
          <a:prstGeom prst="rect">
            <a:avLst/>
          </a:prstGeom>
          <a:solidFill>
            <a:srgbClr val="00E47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1" name="Text 29"/>
          <p:cNvSpPr/>
          <p:nvPr/>
        </p:nvSpPr>
        <p:spPr>
          <a:xfrm>
            <a:off x="4754880" y="3419856"/>
            <a:ext cx="45720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5303520" y="347472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行业标准化进程加速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303520" y="3767328"/>
            <a:ext cx="3429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7B6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农业农村部发布4项宠物领域行业标准（2026年5月1日实施），规范化利好合规领先企业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365760" y="4681728"/>
            <a:ext cx="8412480" cy="438912"/>
          </a:xfrm>
          <a:prstGeom prst="rect">
            <a:avLst/>
          </a:prstGeom>
          <a:solidFill>
            <a:srgbClr val="00E47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5" name="Text 33"/>
          <p:cNvSpPr/>
          <p:nvPr/>
        </p:nvSpPr>
        <p:spPr>
          <a:xfrm>
            <a:off x="548640" y="4681728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 行动建议：强化驱虫组合优势 + 加速猫糖尿病等慢病管线 + 补齐数字化工具（小程序/提醒/问诊）+ 深耕电商渠道 + 关注一带一路出海机遇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831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E47C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微信小程序机会 | WeChat Mini Program Opportunities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65760" y="777240"/>
            <a:ext cx="2286000" cy="36576"/>
          </a:xfrm>
          <a:prstGeom prst="rect">
            <a:avLst/>
          </a:prstGeom>
          <a:solidFill>
            <a:srgbClr val="00E47C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8412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98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建立用户黏性 · 获取一手机主数据 · 打造服务闭环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234440"/>
            <a:ext cx="2743200" cy="30175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234440"/>
            <a:ext cx="2743200" cy="91440"/>
          </a:xfrm>
          <a:prstGeom prst="rect">
            <a:avLst/>
          </a:prstGeom>
          <a:solidFill>
            <a:srgbClr val="00E47C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1371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dirty="0">
                <a:solidFill>
                  <a:srgbClr val="000000"/>
                </a:solidFill>
              </a:rPr>
              <a:t>🔔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914400" y="137160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宠物驱虫提醒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14400" y="1627632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898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Deworming Reminder Tool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502920" y="1901952"/>
            <a:ext cx="2468880" cy="18288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3" name="Text 11"/>
          <p:cNvSpPr/>
          <p:nvPr/>
        </p:nvSpPr>
        <p:spPr>
          <a:xfrm>
            <a:off x="502920" y="1965960"/>
            <a:ext cx="246888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蚊子/蜱虫季节主动推送提醒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用药周期提醒（每月/每3月）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复购提醒 + 京东/天猫直达购买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疫苗+驱虫联合提醒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246120" y="1234440"/>
            <a:ext cx="2743200" cy="30175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46120" y="1234440"/>
            <a:ext cx="2743200" cy="91440"/>
          </a:xfrm>
          <a:prstGeom prst="rect">
            <a:avLst/>
          </a:prstGeom>
          <a:solidFill>
            <a:srgbClr val="A3E5EE"/>
          </a:solidFill>
          <a:ln/>
        </p:spPr>
      </p:sp>
      <p:sp>
        <p:nvSpPr>
          <p:cNvPr id="16" name="Text 14"/>
          <p:cNvSpPr/>
          <p:nvPr/>
        </p:nvSpPr>
        <p:spPr>
          <a:xfrm>
            <a:off x="3383280" y="1371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dirty="0">
                <a:solidFill>
                  <a:srgbClr val="000000"/>
                </a:solidFill>
              </a:rPr>
              <a:t>❓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794760" y="137160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驱虫知识问答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794760" y="1627632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898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Parasite Q&amp;A Mini Program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3383280" y="1901952"/>
            <a:ext cx="2468880" cy="18288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20" name="Text 18"/>
          <p:cNvSpPr/>
          <p:nvPr/>
        </p:nvSpPr>
        <p:spPr>
          <a:xfrm>
            <a:off x="3383280" y="1965960"/>
            <a:ext cx="246888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AI宠物医生常见问答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寄生虫百科（图鉴+危害）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产品对比一键查询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症状自检引导就医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126480" y="1234440"/>
            <a:ext cx="2743200" cy="30175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126480" y="1234440"/>
            <a:ext cx="2743200" cy="91440"/>
          </a:xfrm>
          <a:prstGeom prst="rect">
            <a:avLst/>
          </a:prstGeom>
          <a:solidFill>
            <a:srgbClr val="F58A68"/>
          </a:solidFill>
          <a:ln/>
        </p:spPr>
      </p:sp>
      <p:sp>
        <p:nvSpPr>
          <p:cNvPr id="23" name="Text 21"/>
          <p:cNvSpPr/>
          <p:nvPr/>
        </p:nvSpPr>
        <p:spPr>
          <a:xfrm>
            <a:off x="6263640" y="1371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6675120" y="137160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宠物健康档案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675120" y="1627632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898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Pet Health Profile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6263640" y="1901952"/>
            <a:ext cx="2468880" cy="18288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27" name="Text 25"/>
          <p:cNvSpPr/>
          <p:nvPr/>
        </p:nvSpPr>
        <p:spPr>
          <a:xfrm>
            <a:off x="6263640" y="1965960"/>
            <a:ext cx="246888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宠物基本信息录入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用药记录历史追踪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一键预约宠物医院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获取用户画像数据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65760" y="4370832"/>
            <a:ext cx="8412480" cy="594360"/>
          </a:xfrm>
          <a:prstGeom prst="rect">
            <a:avLst/>
          </a:prstGeom>
          <a:solidFill>
            <a:srgbClr val="08312A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65760" y="4370832"/>
            <a:ext cx="73152" cy="594360"/>
          </a:xfrm>
          <a:prstGeom prst="rect">
            <a:avLst/>
          </a:prstGeom>
          <a:solidFill>
            <a:srgbClr val="00E47C"/>
          </a:solidFill>
          <a:ln/>
        </p:spPr>
      </p:sp>
      <p:sp>
        <p:nvSpPr>
          <p:cNvPr id="30" name="Text 28"/>
          <p:cNvSpPr/>
          <p:nvPr/>
        </p:nvSpPr>
        <p:spPr>
          <a:xfrm>
            <a:off x="548640" y="4370832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核心价值：三大小程序形成「提醒—科普—档案」服务闭环，竞品微信生态几乎空白，BI可率先建立宠物主人数据资产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8312A"/>
          </a:solidFill>
          <a:ln/>
        </p:spPr>
      </p:sp>
      <p:sp>
        <p:nvSpPr>
          <p:cNvPr id="32" name="Text 30"/>
          <p:cNvSpPr/>
          <p:nvPr/>
        </p:nvSpPr>
        <p:spPr>
          <a:xfrm>
            <a:off x="365760" y="4800600"/>
            <a:ext cx="841248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98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INTERNAL USE ONLY  |  勃林格殷格翰中国宠物团队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831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0E47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总结与建议 | Summary &amp; Recommendations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4160520" cy="3611880"/>
          </a:xfrm>
          <a:prstGeom prst="rect">
            <a:avLst/>
          </a:prstGeom>
          <a:solidFill>
            <a:srgbClr val="FFFFFF">
              <a:alpha val="92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/>
          <p:nvPr/>
        </p:nvSpPr>
        <p:spPr>
          <a:xfrm>
            <a:off x="502920" y="1078992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E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竞争格局快照 | Competitive Landscape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2920" y="1463040"/>
            <a:ext cx="388620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硕腾：全球绝对龙头，Q1国际+17%但美国-11%，慢性病是长期押注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礼蓝：Q1营收-3%但创新产品放量，新兴市场压力明显，全年指引上调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默沙东：Q1+13%，多元化组合稳健，医院渠道深耕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维克（Virbac）：宠物+9.9%，北美+20.7%，新晋关注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海正：宠物占比55%，2亿单品海乐妙，85%研发在宠物，出海加速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国产品牌性价比优势持续蚕食外资，进口替代不可逆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4663440" y="1005840"/>
            <a:ext cx="4160520" cy="3611880"/>
          </a:xfrm>
          <a:prstGeom prst="rect">
            <a:avLst/>
          </a:prstGeom>
          <a:solidFill>
            <a:srgbClr val="FFFFFF">
              <a:alpha val="92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4800600" y="1078992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E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 行动建议 | Action Items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663440" y="1481328"/>
            <a:ext cx="411480" cy="457200"/>
          </a:xfrm>
          <a:prstGeom prst="rect">
            <a:avLst/>
          </a:prstGeom>
          <a:solidFill>
            <a:srgbClr val="F58A6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4663440" y="1481328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P0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5166360" y="1481328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加速猫糖尿病等慢病管线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166360" y="1709928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98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猫市场增速最快，NexGard COMBO已有先发优势，加快慢病布局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4663440" y="2011680"/>
            <a:ext cx="411480" cy="457200"/>
          </a:xfrm>
          <a:prstGeom prst="rect">
            <a:avLst/>
          </a:prstGeom>
          <a:solidFill>
            <a:srgbClr val="F58A6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/>
          <p:nvPr/>
        </p:nvSpPr>
        <p:spPr>
          <a:xfrm>
            <a:off x="4663440" y="2011680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P0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5166360" y="201168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补齐数字化工具缺口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166360" y="224028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98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小程序+驱虫提醒+在线问诊+宠物档案，缩小与竞品体验差距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4663440" y="2542032"/>
            <a:ext cx="411480" cy="457200"/>
          </a:xfrm>
          <a:prstGeom prst="rect">
            <a:avLst/>
          </a:prstGeom>
          <a:solidFill>
            <a:srgbClr val="A3E5E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/>
          <p:nvPr/>
        </p:nvSpPr>
        <p:spPr>
          <a:xfrm>
            <a:off x="4663440" y="2542032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P1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5166360" y="2542032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强化驱虫组合优势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166360" y="2770632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98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超可信+博来恩+福来恩组合拳，对抗海正2亿单品海乐妙冲击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4663440" y="3072384"/>
            <a:ext cx="411480" cy="457200"/>
          </a:xfrm>
          <a:prstGeom prst="rect">
            <a:avLst/>
          </a:prstGeom>
          <a:solidFill>
            <a:srgbClr val="A3E5E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2" name="Text 20"/>
          <p:cNvSpPr/>
          <p:nvPr/>
        </p:nvSpPr>
        <p:spPr>
          <a:xfrm>
            <a:off x="4663440" y="3072384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P1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5166360" y="3072384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电商渠道精细化运营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166360" y="3300984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98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驱虫药电商占55%且+20%，与京东健康/天猫合作内容种草+搜索卡位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4663440" y="3602736"/>
            <a:ext cx="411480" cy="457200"/>
          </a:xfrm>
          <a:prstGeom prst="rect">
            <a:avLst/>
          </a:prstGeom>
          <a:solidFill>
            <a:srgbClr val="A3E5E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4"/>
          <p:cNvSpPr/>
          <p:nvPr/>
        </p:nvSpPr>
        <p:spPr>
          <a:xfrm>
            <a:off x="4663440" y="3602736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P2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5166360" y="3602736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关注一带一路出海机遇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166360" y="3831336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98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海正已获越南批文，BI国际业务需评估一带一路市场进入策略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4663440" y="4133088"/>
            <a:ext cx="411480" cy="457200"/>
          </a:xfrm>
          <a:prstGeom prst="rect">
            <a:avLst/>
          </a:prstGeom>
          <a:solidFill>
            <a:srgbClr val="A3E5E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0" name="Text 28"/>
          <p:cNvSpPr/>
          <p:nvPr/>
        </p:nvSpPr>
        <p:spPr>
          <a:xfrm>
            <a:off x="4663440" y="4133088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P2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5166360" y="4133088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行业标准合规领先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166360" y="4361688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98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4项行业标准5月1日实施，合规领先企业将受益，抢先布局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365760" y="4681728"/>
            <a:ext cx="8412480" cy="438912"/>
          </a:xfrm>
          <a:prstGeom prst="rect">
            <a:avLst/>
          </a:prstGeom>
          <a:solidFill>
            <a:srgbClr val="00E47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4" name="Text 32"/>
          <p:cNvSpPr/>
          <p:nvPr/>
        </p:nvSpPr>
        <p:spPr>
          <a:xfrm>
            <a:off x="548640" y="4681728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数据截至：2026年5月13日  |  非官方披露数据仅供内部使用  |  INTERNAL USE ONLY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bfd0b529-4a04-4616-88d2-531082d94bb8}" enabled="1" method="Standard" siteId="{e1f8af86-ee95-4718-bd0d-375b37366c83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595</TotalTime>
  <Words>1774</Words>
  <Application>Microsoft Office PowerPoint</Application>
  <PresentationFormat>全屏显示(16:9)</PresentationFormat>
  <Paragraphs>402</Paragraphs>
  <Slides>13</Slides>
  <Notes>13</Notes>
  <HiddenSlides>0</HiddenSlides>
  <MMClips>0</MMClips>
  <ScaleCrop>false</ScaleCrop>
  <HeadingPairs>
    <vt:vector size="6" baseType="variant">
      <vt:variant>
        <vt:lpstr>已用的字体</vt:lpstr>
      </vt:variant>
      <vt:variant>
        <vt:i4>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15" baseType="lpstr">
      <vt:lpstr>Arial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 Pet Competitive Ecosystem 2026</dc:title>
  <dc:subject>PptxGenJS Presentation</dc:subject>
  <dc:creator>BI China Pet Health</dc:creator>
  <cp:lastModifiedBy>LILY XU</cp:lastModifiedBy>
  <cp:revision>3</cp:revision>
  <dcterms:created xsi:type="dcterms:W3CDTF">2026-05-13T10:28:20Z</dcterms:created>
  <dcterms:modified xsi:type="dcterms:W3CDTF">2026-05-24T12:22:28Z</dcterms:modified>
</cp:coreProperties>
</file>